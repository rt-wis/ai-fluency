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going to demystify AI — specifically Generative AI. By the end of this 30 minutes, you'll understand what it actually is, what it's good and bad at, and how to get better results when you use it. This isn't about becoming a tech expert — it's about building intuition.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history. 1950 — Alan Turing wrote a paper asking 'Can machines think?' He proposed the Turing Test: if you're chatting with something and can't tell whether it's a human or machine, it passes. If you've seen The Imitation Game with Benedict Cumberbatch, that's Turing's story.
1997 — Deep Blue beats Kasparov at chess. Impressive, but it couldn't do anything else. That's 'narrow AI.'
2011 — Siri launches. AI enters daily life, but it's still very rule-based.
2022 — ChatGPT launches and hits 100 million users in 2 months. This is when Generative AI went mainstream. That's where we are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talk about ChatGPT, I want to make a point: you've been using AI for years. Your Apple Watch uses AI to detect heart irregularities. Gmail filters out 99.9% of spam before you see it. Google Maps predicts traffic. Spotify learns what music you like. Your phone camera auto-enhances photos. These are all AI — just not the 'chat with it' kind. The difference now is that Generative AI lets you interact with AI using plain English.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concept. Generative AI is essentially a next-word prediction engine. Given 'The cat sat on the...', it calculates probabilities: 'mat' is most likely at 62%, then 'chair', 'roof', 'table', etc.
It picks the most probable word, adds it, then predicts the NEXT word after that, and so on. It does this billions of times to generate paragraphs, essays, code, whatever.
The key insight: it's not 'thinking' or 'understanding' — it's predicting what word is most likely to come next, based on all the text it was trained on. This is why it can sound incredibly intelligent but also make surprising mistakes.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quick map of who's who. You've probably heard of ChatGPT — that's made by OpenAI, powered by their GPT-4 model. Claude is from Anthropic — great for long documents and nuanced analysis. Gemini is Google's play. Copilot is Microsoft's — it's actually GPT-4 under the hood, licensed from OpenAI, embedded into Office apps.
Three terms you'll hear constantly: LLM — that's the engine behind these tools. Prompt — that's your instruction, what you type in. Hallucination — that's when the AI confidently makes something up. We'll come back to that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impressive stuff. AI models have passed the US medical licensing exam, the bar exam, and advanced STEM tests — often scoring in the top percentile.
But the practical stuff matters more for us: it can summarise massive documents instantly, draft emails and proposals, translate across languages with real nuance, analyse spreadsheets if you paste the data in, and write working code.
These are genuine superpowers for productivity. The question is: what are the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important concepts. 'Jagged intelligence' — a term from Harvard Business School research. AI's capabilities are wildly uneven.
It can score 90th percentile on a law exam, but when you ask it 'How many R's are in strawberry?' — GPT-4 famously got it wrong, saying 2 instead of 3. It can generate beautiful code but stumble on basic multiplication.
The takeaway: just because it nailed one task doesn't mean it'll nail the next. The frontier is jagged. You need to verify, especially for the 'simple' stuff you'd assume it would get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key blind spots.
1. Hallucinations — the big one. AI will confidently cite a court case that doesn't exist, or invent a product specification. It doesn't flag uncertainty — it just presents fiction as fact.
2. Training data gaps — this is critical for us. These models learned from the internet. Our industry's technical specifications, rigging standards, specific product details? That's specialist knowledge that may not be in the training data, or may be wrong.
3. Knowledge cutoff — without search tools, it doesn't know recent events.
4. Bias — it reflects whatever was in its training data, which skews toward popular internet opinion.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mental model. AI is a REASONING engine, not a SEARCH engine. It's amazing at structuring ideas, drafting text, explaining concepts, brainstorming, and analysing patterns.
But it's NOT a fact-finding tool. Don't trust it to look up specific numbers, technical specs, current events, or anything where accuracy is critical — unless it has web search and you can verify.
The analogy I like: think of it as a brilliant new hire who just started. Incredible reasoning ability, great writer, fast learner. But they just started — so you'd never let them send a customer email without reviewing it first. Same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simple framework: R-C-T-F-E.
Role — tell the AI who to be. 'You're a senior pricing analyst' gives it context about expertise level and perspective.
Context — give it background. What's the situation? Who's the audience? What do they already know?
Task — be specific about what you want. Not 'write an email' but 'draft a 200-word email explaining a 7% price increase.'
Format — tell it how you want the output. Bullet points? Paragraphs? Table? How long?
Examples — if you have a sample of what 'good' looks like, paste it in. This is the single most powerful thing you can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compare. The bad prompt: 'Write me an email about a price increase.' The AI has no idea who the audience is, what product, what the reason is, how long it should be, or what tone to use. You'll get generic filler.
The good prompt: gives a role, context about the product and reason, specifies tone, length, and a specific element to include. Night and day difference in output quality.
Same pattern for summarising. 'Summarise this report' vs telling it exactly what to focus on and how many points you want. The more context you give, the better the output. Think of it like briefing a colleague — the better the brief, the better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your decision framework — three columns.
Green — USE IT: drafting, summarising, brainstorming, rewriting, explaining, structuring. These are safe because you're using AI as a starting point, not the final answer.
Amber — USE WITH CAUTION: industry analysis, data interpretation, customer-facing content, anything you'll present externally. Use AI to get started, but review carefully.
Red — DON'T RELY ON IT: exact technical specs, pricing terms, safety-critical info, legal claims, anything you can't independently verify. And never paste confidential or sensitive data into a public AI tool.
The golden rule: would you send a new hire's first draft without reviewing it? No. Same standard applies to AI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to remember from today:
1. AI is a reasoning engine, not a search engine. Use it to think, draft, structure — not to look up facts.
2. Better prompts give you dramatically better output. Use the R-C-T-F-E framework: Role, Context, Task, Format, Examples.
3. Always verify before you send. Treat AI output like a first draft from a smart but new team member.
AI won't replace you. But someone who uses AI well will outperform someone who doesn't. Start experimenting. Start small. And always check the output.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slideLayout" Target="../slideLayouts/slideLayout1.xml"/><Relationship Id="rId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9A7"/>
          </a:solidFill>
          <a:ln/>
        </p:spPr>
      </p:sp>
      <p:pic>
        <p:nvPicPr>
          <p:cNvPr id="3" name="Image 0" descr="preencoded.png">    </p:cNvPr>
          <p:cNvPicPr>
            <a:picLocks noChangeAspect="1"/>
          </p:cNvPicPr>
          <p:nvPr/>
        </p:nvPicPr>
        <p:blipFill>
          <a:blip r:embed="rId1"/>
          <a:stretch>
            <a:fillRect/>
          </a:stretch>
        </p:blipFill>
        <p:spPr>
          <a:xfrm>
            <a:off x="4160520" y="914400"/>
            <a:ext cx="822960" cy="822960"/>
          </a:xfrm>
          <a:prstGeom prst="rect">
            <a:avLst/>
          </a:prstGeom>
        </p:spPr>
      </p:pic>
      <p:sp>
        <p:nvSpPr>
          <p:cNvPr id="4" name="Text 1"/>
          <p:cNvSpPr/>
          <p:nvPr/>
        </p:nvSpPr>
        <p:spPr>
          <a:xfrm>
            <a:off x="457200" y="1920240"/>
            <a:ext cx="8229600"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AI Fluency</a:t>
            </a:r>
            <a:endParaRPr lang="en-US" sz="4800" dirty="0"/>
          </a:p>
        </p:txBody>
      </p:sp>
      <p:sp>
        <p:nvSpPr>
          <p:cNvPr id="5" name="Text 2"/>
          <p:cNvSpPr/>
          <p:nvPr/>
        </p:nvSpPr>
        <p:spPr>
          <a:xfrm>
            <a:off x="457200" y="2834640"/>
            <a:ext cx="8229600" cy="548640"/>
          </a:xfrm>
          <a:prstGeom prst="rect">
            <a:avLst/>
          </a:prstGeom>
          <a:noFill/>
          <a:ln/>
        </p:spPr>
        <p:txBody>
          <a:bodyPr wrap="square" lIns="0" tIns="0" rIns="0" bIns="0" rtlCol="0" anchor="ctr"/>
          <a:lstStyle/>
          <a:p>
            <a:pPr algn="ctr" indent="0" marL="0">
              <a:buNone/>
            </a:pPr>
            <a:r>
              <a:rPr lang="en-US" sz="2200" dirty="0">
                <a:solidFill>
                  <a:srgbClr val="00C9A7"/>
                </a:solidFill>
                <a:latin typeface="Calibri" pitchFamily="34" charset="0"/>
                <a:ea typeface="Calibri" pitchFamily="34" charset="-122"/>
                <a:cs typeface="Calibri" pitchFamily="34" charset="-120"/>
              </a:rPr>
              <a:t>Building Your AI Intuition</a:t>
            </a:r>
            <a:endParaRPr lang="en-US" sz="2200" dirty="0"/>
          </a:p>
        </p:txBody>
      </p:sp>
      <p:sp>
        <p:nvSpPr>
          <p:cNvPr id="6" name="Shape 3"/>
          <p:cNvSpPr/>
          <p:nvPr/>
        </p:nvSpPr>
        <p:spPr>
          <a:xfrm>
            <a:off x="3200400" y="3566160"/>
            <a:ext cx="2743200" cy="0"/>
          </a:xfrm>
          <a:prstGeom prst="line">
            <a:avLst/>
          </a:prstGeom>
          <a:noFill/>
          <a:ln w="6350">
            <a:solidFill>
              <a:srgbClr val="94A3B8"/>
            </a:solidFill>
            <a:prstDash val="solid"/>
          </a:ln>
        </p:spPr>
      </p:sp>
      <p:sp>
        <p:nvSpPr>
          <p:cNvPr id="7" name="Text 4"/>
          <p:cNvSpPr/>
          <p:nvPr/>
        </p:nvSpPr>
        <p:spPr>
          <a:xfrm>
            <a:off x="457200" y="3840480"/>
            <a:ext cx="8229600" cy="457200"/>
          </a:xfrm>
          <a:prstGeom prst="rect">
            <a:avLst/>
          </a:prstGeom>
          <a:noFill/>
          <a:ln/>
        </p:spPr>
        <p:txBody>
          <a:bodyPr wrap="square" lIns="0" tIns="0" rIns="0" bIns="0" rtlCol="0" anchor="ctr"/>
          <a:lstStyle/>
          <a:p>
            <a:pPr algn="ctr" indent="0" marL="0">
              <a:buNone/>
            </a:pPr>
            <a:r>
              <a:rPr lang="en-US" sz="1400" dirty="0">
                <a:solidFill>
                  <a:srgbClr val="94A3B8"/>
                </a:solidFill>
                <a:latin typeface="Calibri" pitchFamily="34" charset="0"/>
                <a:ea typeface="Calibri" pitchFamily="34" charset="-122"/>
                <a:cs typeface="Calibri" pitchFamily="34" charset="-120"/>
              </a:rPr>
              <a:t>What it is  •  What it can and can't do  •  How to use it well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40080" y="320040"/>
            <a:ext cx="7772400" cy="640080"/>
          </a:xfrm>
          <a:prstGeom prst="rect">
            <a:avLst/>
          </a:prstGeom>
          <a:noFill/>
          <a:ln/>
        </p:spPr>
        <p:txBody>
          <a:bodyPr wrap="square" lIns="0" tIns="0" rIns="0" bIns="0"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A Brief History of AI</a:t>
            </a:r>
            <a:endParaRPr lang="en-US" sz="3200" dirty="0"/>
          </a:p>
        </p:txBody>
      </p:sp>
      <p:sp>
        <p:nvSpPr>
          <p:cNvPr id="3" name="Shape 1"/>
          <p:cNvSpPr/>
          <p:nvPr/>
        </p:nvSpPr>
        <p:spPr>
          <a:xfrm>
            <a:off x="640080" y="1234440"/>
            <a:ext cx="1005840" cy="411480"/>
          </a:xfrm>
          <a:prstGeom prst="rect">
            <a:avLst>
              <a:gd name="adj" fmla="val 11111"/>
            </a:avLst>
          </a:prstGeom>
          <a:solidFill>
            <a:srgbClr val="0B1120"/>
          </a:solidFill>
          <a:ln/>
        </p:spPr>
      </p:sp>
      <p:sp>
        <p:nvSpPr>
          <p:cNvPr id="4" name="Text 2"/>
          <p:cNvSpPr/>
          <p:nvPr/>
        </p:nvSpPr>
        <p:spPr>
          <a:xfrm>
            <a:off x="640080" y="1234440"/>
            <a:ext cx="100584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1950</a:t>
            </a:r>
            <a:endParaRPr lang="en-US" sz="1600" dirty="0"/>
          </a:p>
        </p:txBody>
      </p:sp>
      <p:sp>
        <p:nvSpPr>
          <p:cNvPr id="5" name="Text 3"/>
          <p:cNvSpPr/>
          <p:nvPr/>
        </p:nvSpPr>
        <p:spPr>
          <a:xfrm>
            <a:off x="1828800" y="1216152"/>
            <a:ext cx="6675120" cy="292608"/>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Alan Turing asks: "Can machines think?"</a:t>
            </a:r>
            <a:endParaRPr lang="en-US" sz="1500" dirty="0"/>
          </a:p>
        </p:txBody>
      </p:sp>
      <p:sp>
        <p:nvSpPr>
          <p:cNvPr id="6" name="Text 4"/>
          <p:cNvSpPr/>
          <p:nvPr/>
        </p:nvSpPr>
        <p:spPr>
          <a:xfrm>
            <a:off x="1828800" y="1527048"/>
            <a:ext cx="6675120" cy="27432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The Turing Test — if you can't tell it's a machine, it's intelligent</a:t>
            </a:r>
            <a:endParaRPr lang="en-US" sz="1200" dirty="0"/>
          </a:p>
        </p:txBody>
      </p:sp>
      <p:sp>
        <p:nvSpPr>
          <p:cNvPr id="7" name="Shape 5"/>
          <p:cNvSpPr/>
          <p:nvPr/>
        </p:nvSpPr>
        <p:spPr>
          <a:xfrm>
            <a:off x="1143000" y="1691640"/>
            <a:ext cx="0" cy="411480"/>
          </a:xfrm>
          <a:prstGeom prst="line">
            <a:avLst/>
          </a:prstGeom>
          <a:noFill/>
          <a:ln w="19050">
            <a:solidFill>
              <a:srgbClr val="E2E8F0"/>
            </a:solidFill>
            <a:prstDash val="solid"/>
          </a:ln>
        </p:spPr>
      </p:sp>
      <p:sp>
        <p:nvSpPr>
          <p:cNvPr id="8" name="Shape 6"/>
          <p:cNvSpPr/>
          <p:nvPr/>
        </p:nvSpPr>
        <p:spPr>
          <a:xfrm>
            <a:off x="640080" y="2148840"/>
            <a:ext cx="1005840" cy="411480"/>
          </a:xfrm>
          <a:prstGeom prst="rect">
            <a:avLst>
              <a:gd name="adj" fmla="val 11111"/>
            </a:avLst>
          </a:prstGeom>
          <a:solidFill>
            <a:srgbClr val="0B1120"/>
          </a:solidFill>
          <a:ln/>
        </p:spPr>
      </p:sp>
      <p:sp>
        <p:nvSpPr>
          <p:cNvPr id="9" name="Text 7"/>
          <p:cNvSpPr/>
          <p:nvPr/>
        </p:nvSpPr>
        <p:spPr>
          <a:xfrm>
            <a:off x="640080" y="2148840"/>
            <a:ext cx="100584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1997</a:t>
            </a:r>
            <a:endParaRPr lang="en-US" sz="1600" dirty="0"/>
          </a:p>
        </p:txBody>
      </p:sp>
      <p:sp>
        <p:nvSpPr>
          <p:cNvPr id="10" name="Text 8"/>
          <p:cNvSpPr/>
          <p:nvPr/>
        </p:nvSpPr>
        <p:spPr>
          <a:xfrm>
            <a:off x="1828800" y="2130552"/>
            <a:ext cx="6675120" cy="292608"/>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IBM's Deep Blue beats world chess champion</a:t>
            </a:r>
            <a:endParaRPr lang="en-US" sz="1500" dirty="0"/>
          </a:p>
        </p:txBody>
      </p:sp>
      <p:sp>
        <p:nvSpPr>
          <p:cNvPr id="11" name="Text 9"/>
          <p:cNvSpPr/>
          <p:nvPr/>
        </p:nvSpPr>
        <p:spPr>
          <a:xfrm>
            <a:off x="1828800" y="2441448"/>
            <a:ext cx="6675120" cy="27432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Narrow AI — brilliant at one thing, useless at everything else</a:t>
            </a:r>
            <a:endParaRPr lang="en-US" sz="1200" dirty="0"/>
          </a:p>
        </p:txBody>
      </p:sp>
      <p:sp>
        <p:nvSpPr>
          <p:cNvPr id="12" name="Shape 10"/>
          <p:cNvSpPr/>
          <p:nvPr/>
        </p:nvSpPr>
        <p:spPr>
          <a:xfrm>
            <a:off x="1143000" y="2606040"/>
            <a:ext cx="0" cy="411480"/>
          </a:xfrm>
          <a:prstGeom prst="line">
            <a:avLst/>
          </a:prstGeom>
          <a:noFill/>
          <a:ln w="19050">
            <a:solidFill>
              <a:srgbClr val="E2E8F0"/>
            </a:solidFill>
            <a:prstDash val="solid"/>
          </a:ln>
        </p:spPr>
      </p:sp>
      <p:sp>
        <p:nvSpPr>
          <p:cNvPr id="13" name="Shape 11"/>
          <p:cNvSpPr/>
          <p:nvPr/>
        </p:nvSpPr>
        <p:spPr>
          <a:xfrm>
            <a:off x="640080" y="3063240"/>
            <a:ext cx="1005840" cy="411480"/>
          </a:xfrm>
          <a:prstGeom prst="rect">
            <a:avLst>
              <a:gd name="adj" fmla="val 11111"/>
            </a:avLst>
          </a:prstGeom>
          <a:solidFill>
            <a:srgbClr val="0B1120"/>
          </a:solidFill>
          <a:ln/>
        </p:spPr>
      </p:sp>
      <p:sp>
        <p:nvSpPr>
          <p:cNvPr id="14" name="Text 12"/>
          <p:cNvSpPr/>
          <p:nvPr/>
        </p:nvSpPr>
        <p:spPr>
          <a:xfrm>
            <a:off x="640080" y="3063240"/>
            <a:ext cx="100584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2011</a:t>
            </a:r>
            <a:endParaRPr lang="en-US" sz="1600" dirty="0"/>
          </a:p>
        </p:txBody>
      </p:sp>
      <p:sp>
        <p:nvSpPr>
          <p:cNvPr id="15" name="Text 13"/>
          <p:cNvSpPr/>
          <p:nvPr/>
        </p:nvSpPr>
        <p:spPr>
          <a:xfrm>
            <a:off x="1828800" y="3044952"/>
            <a:ext cx="6675120" cy="292608"/>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Siri, Alexa and voice assistants arrive</a:t>
            </a:r>
            <a:endParaRPr lang="en-US" sz="1500" dirty="0"/>
          </a:p>
        </p:txBody>
      </p:sp>
      <p:sp>
        <p:nvSpPr>
          <p:cNvPr id="16" name="Text 14"/>
          <p:cNvSpPr/>
          <p:nvPr/>
        </p:nvSpPr>
        <p:spPr>
          <a:xfrm>
            <a:off x="1828800" y="3355848"/>
            <a:ext cx="6675120" cy="27432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AI enters your pocket — but it's still following rigid rules</a:t>
            </a:r>
            <a:endParaRPr lang="en-US" sz="1200" dirty="0"/>
          </a:p>
        </p:txBody>
      </p:sp>
      <p:sp>
        <p:nvSpPr>
          <p:cNvPr id="17" name="Shape 15"/>
          <p:cNvSpPr/>
          <p:nvPr/>
        </p:nvSpPr>
        <p:spPr>
          <a:xfrm>
            <a:off x="1143000" y="3520440"/>
            <a:ext cx="0" cy="411480"/>
          </a:xfrm>
          <a:prstGeom prst="line">
            <a:avLst/>
          </a:prstGeom>
          <a:noFill/>
          <a:ln w="19050">
            <a:solidFill>
              <a:srgbClr val="E2E8F0"/>
            </a:solidFill>
            <a:prstDash val="solid"/>
          </a:ln>
        </p:spPr>
      </p:sp>
      <p:sp>
        <p:nvSpPr>
          <p:cNvPr id="18" name="Shape 16"/>
          <p:cNvSpPr/>
          <p:nvPr/>
        </p:nvSpPr>
        <p:spPr>
          <a:xfrm>
            <a:off x="640080" y="3977640"/>
            <a:ext cx="1005840" cy="411480"/>
          </a:xfrm>
          <a:prstGeom prst="rect">
            <a:avLst>
              <a:gd name="adj" fmla="val 11111"/>
            </a:avLst>
          </a:prstGeom>
          <a:solidFill>
            <a:srgbClr val="00C9A7"/>
          </a:solidFill>
          <a:ln/>
        </p:spPr>
      </p:sp>
      <p:sp>
        <p:nvSpPr>
          <p:cNvPr id="19" name="Text 17"/>
          <p:cNvSpPr/>
          <p:nvPr/>
        </p:nvSpPr>
        <p:spPr>
          <a:xfrm>
            <a:off x="640080" y="3977640"/>
            <a:ext cx="100584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2022</a:t>
            </a:r>
            <a:endParaRPr lang="en-US" sz="1600" dirty="0"/>
          </a:p>
        </p:txBody>
      </p:sp>
      <p:sp>
        <p:nvSpPr>
          <p:cNvPr id="20" name="Text 18"/>
          <p:cNvSpPr/>
          <p:nvPr/>
        </p:nvSpPr>
        <p:spPr>
          <a:xfrm>
            <a:off x="1828800" y="3959352"/>
            <a:ext cx="6675120" cy="292608"/>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ChatGPT launches — 100M users in 2 months</a:t>
            </a:r>
            <a:endParaRPr lang="en-US" sz="1500" dirty="0"/>
          </a:p>
        </p:txBody>
      </p:sp>
      <p:sp>
        <p:nvSpPr>
          <p:cNvPr id="21" name="Text 19"/>
          <p:cNvSpPr/>
          <p:nvPr/>
        </p:nvSpPr>
        <p:spPr>
          <a:xfrm>
            <a:off x="1828800" y="4270248"/>
            <a:ext cx="6675120" cy="274320"/>
          </a:xfrm>
          <a:prstGeom prst="rect">
            <a:avLst/>
          </a:prstGeom>
          <a:noFill/>
          <a:ln/>
        </p:spPr>
        <p:txBody>
          <a:bodyPr wrap="square" lIns="0" tIns="0" rIns="0" bIns="0" rtlCol="0" anchor="ctr"/>
          <a:lstStyle/>
          <a:p>
            <a:pPr indent="0" marL="0">
              <a:buNone/>
            </a:pPr>
            <a:r>
              <a:rPr lang="en-US" sz="1200" i="1" dirty="0">
                <a:solidFill>
                  <a:srgbClr val="475569"/>
                </a:solidFill>
                <a:latin typeface="Calibri" pitchFamily="34" charset="0"/>
                <a:ea typeface="Calibri" pitchFamily="34" charset="-122"/>
                <a:cs typeface="Calibri" pitchFamily="34" charset="-120"/>
              </a:rPr>
              <a:t>Generative AI goes mainstream — the moment everything changed</a:t>
            </a:r>
            <a:endParaRPr lang="en-US" sz="1200" dirty="0"/>
          </a:p>
        </p:txBody>
      </p:sp>
      <p:sp>
        <p:nvSpPr>
          <p:cNvPr id="22" name="Text 20"/>
          <p:cNvSpPr/>
          <p:nvPr/>
        </p:nvSpPr>
        <p:spPr>
          <a:xfrm>
            <a:off x="640080" y="4434840"/>
            <a:ext cx="7772400" cy="365760"/>
          </a:xfrm>
          <a:prstGeom prst="rect">
            <a:avLst/>
          </a:prstGeom>
          <a:noFill/>
          <a:ln/>
        </p:spPr>
        <p:txBody>
          <a:bodyPr wrap="square" lIns="0" tIns="0" rIns="0" bIns="0" rtlCol="0" anchor="ctr"/>
          <a:lstStyle/>
          <a:p>
            <a:pPr indent="0" marL="0">
              <a:buNone/>
            </a:pPr>
            <a:r>
              <a:rPr lang="en-US" sz="1300" i="1" dirty="0">
                <a:solidFill>
                  <a:srgbClr val="475569"/>
                </a:solidFill>
                <a:latin typeface="Calibri" pitchFamily="34" charset="0"/>
                <a:ea typeface="Calibri" pitchFamily="34" charset="-122"/>
                <a:cs typeface="Calibri" pitchFamily="34" charset="-120"/>
              </a:rPr>
              <a:t>🎬  If you've seen "The Imitation Game" — that's where this all started.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40080" y="320040"/>
            <a:ext cx="7772400" cy="640080"/>
          </a:xfrm>
          <a:prstGeom prst="rect">
            <a:avLst/>
          </a:prstGeom>
          <a:noFill/>
          <a:ln/>
        </p:spPr>
        <p:txBody>
          <a:bodyPr wrap="square" lIns="0" tIns="0" rIns="0" bIns="0"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AI Is Already In Your Life</a:t>
            </a:r>
            <a:endParaRPr lang="en-US" sz="3200" dirty="0"/>
          </a:p>
        </p:txBody>
      </p:sp>
      <p:sp>
        <p:nvSpPr>
          <p:cNvPr id="3" name="Shape 1"/>
          <p:cNvSpPr/>
          <p:nvPr/>
        </p:nvSpPr>
        <p:spPr>
          <a:xfrm>
            <a:off x="640080" y="1188720"/>
            <a:ext cx="3794760" cy="914400"/>
          </a:xfrm>
          <a:prstGeom prst="rect">
            <a:avLst/>
          </a:prstGeom>
          <a:solidFill>
            <a:srgbClr val="FFFFFF"/>
          </a:solidFill>
          <a:ln/>
          <a:effectLst>
            <a:outerShdw sx="100000" sy="100000" kx="0" ky="0" algn="bl" rotWithShape="0" blurRad="50800" dist="12700" dir="8100000">
              <a:srgbClr val="000000">
                <a:alpha val="8000"/>
              </a:srgbClr>
            </a:outerShdw>
          </a:effectLst>
        </p:spPr>
      </p:sp>
      <p:pic>
        <p:nvPicPr>
          <p:cNvPr id="4" name="Image 0" descr="preencoded.png">    </p:cNvPr>
          <p:cNvPicPr>
            <a:picLocks noChangeAspect="1"/>
          </p:cNvPicPr>
          <p:nvPr/>
        </p:nvPicPr>
        <p:blipFill>
          <a:blip r:embed="rId1"/>
          <a:stretch>
            <a:fillRect/>
          </a:stretch>
        </p:blipFill>
        <p:spPr>
          <a:xfrm>
            <a:off x="822960" y="1389888"/>
            <a:ext cx="457200" cy="457200"/>
          </a:xfrm>
          <a:prstGeom prst="rect">
            <a:avLst/>
          </a:prstGeom>
        </p:spPr>
      </p:pic>
      <p:sp>
        <p:nvSpPr>
          <p:cNvPr id="5" name="Text 2"/>
          <p:cNvSpPr/>
          <p:nvPr/>
        </p:nvSpPr>
        <p:spPr>
          <a:xfrm>
            <a:off x="1417320" y="1280160"/>
            <a:ext cx="27432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Apple Watch</a:t>
            </a:r>
            <a:endParaRPr lang="en-US" sz="1400" dirty="0"/>
          </a:p>
        </p:txBody>
      </p:sp>
      <p:sp>
        <p:nvSpPr>
          <p:cNvPr id="6" name="Text 3"/>
          <p:cNvSpPr/>
          <p:nvPr/>
        </p:nvSpPr>
        <p:spPr>
          <a:xfrm>
            <a:off x="1417320" y="1600200"/>
            <a:ext cx="27432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Detects irregular heart rhythms using pattern recognition</a:t>
            </a:r>
            <a:endParaRPr lang="en-US" sz="1100" dirty="0"/>
          </a:p>
        </p:txBody>
      </p:sp>
      <p:sp>
        <p:nvSpPr>
          <p:cNvPr id="7" name="Shape 4"/>
          <p:cNvSpPr/>
          <p:nvPr/>
        </p:nvSpPr>
        <p:spPr>
          <a:xfrm>
            <a:off x="4709160" y="1188720"/>
            <a:ext cx="3794760" cy="914400"/>
          </a:xfrm>
          <a:prstGeom prst="rect">
            <a:avLst/>
          </a:prstGeom>
          <a:solidFill>
            <a:srgbClr val="FFFFFF"/>
          </a:solidFill>
          <a:ln/>
          <a:effectLst>
            <a:outerShdw sx="100000" sy="100000" kx="0" ky="0" algn="bl" rotWithShape="0" blurRad="50800" dist="12700" dir="8100000">
              <a:srgbClr val="000000">
                <a:alpha val="8000"/>
              </a:srgbClr>
            </a:outerShdw>
          </a:effectLst>
        </p:spPr>
      </p:sp>
      <p:pic>
        <p:nvPicPr>
          <p:cNvPr id="8" name="Image 1" descr="preencoded.png">    </p:cNvPr>
          <p:cNvPicPr>
            <a:picLocks noChangeAspect="1"/>
          </p:cNvPicPr>
          <p:nvPr/>
        </p:nvPicPr>
        <p:blipFill>
          <a:blip r:embed="rId2"/>
          <a:stretch>
            <a:fillRect/>
          </a:stretch>
        </p:blipFill>
        <p:spPr>
          <a:xfrm>
            <a:off x="4892040" y="1389888"/>
            <a:ext cx="457200" cy="457200"/>
          </a:xfrm>
          <a:prstGeom prst="rect">
            <a:avLst/>
          </a:prstGeom>
        </p:spPr>
      </p:pic>
      <p:sp>
        <p:nvSpPr>
          <p:cNvPr id="9" name="Text 5"/>
          <p:cNvSpPr/>
          <p:nvPr/>
        </p:nvSpPr>
        <p:spPr>
          <a:xfrm>
            <a:off x="5486400" y="1280160"/>
            <a:ext cx="27432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Email Spam Filter</a:t>
            </a:r>
            <a:endParaRPr lang="en-US" sz="1400" dirty="0"/>
          </a:p>
        </p:txBody>
      </p:sp>
      <p:sp>
        <p:nvSpPr>
          <p:cNvPr id="10" name="Text 6"/>
          <p:cNvSpPr/>
          <p:nvPr/>
        </p:nvSpPr>
        <p:spPr>
          <a:xfrm>
            <a:off x="5486400" y="1600200"/>
            <a:ext cx="27432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Classifies 99.9% of spam before it hits your inbox</a:t>
            </a:r>
            <a:endParaRPr lang="en-US" sz="1100" dirty="0"/>
          </a:p>
        </p:txBody>
      </p:sp>
      <p:sp>
        <p:nvSpPr>
          <p:cNvPr id="11" name="Shape 7"/>
          <p:cNvSpPr/>
          <p:nvPr/>
        </p:nvSpPr>
        <p:spPr>
          <a:xfrm>
            <a:off x="640080" y="2331720"/>
            <a:ext cx="3794760" cy="914400"/>
          </a:xfrm>
          <a:prstGeom prst="rect">
            <a:avLst/>
          </a:prstGeom>
          <a:solidFill>
            <a:srgbClr val="FFFFFF"/>
          </a:solidFill>
          <a:ln/>
          <a:effectLst>
            <a:outerShdw sx="100000" sy="100000" kx="0" ky="0" algn="bl" rotWithShape="0" blurRad="50800" dist="12700" dir="8100000">
              <a:srgbClr val="000000">
                <a:alpha val="8000"/>
              </a:srgbClr>
            </a:outerShdw>
          </a:effectLst>
        </p:spPr>
      </p:sp>
      <p:pic>
        <p:nvPicPr>
          <p:cNvPr id="12" name="Image 2" descr="preencoded.png">    </p:cNvPr>
          <p:cNvPicPr>
            <a:picLocks noChangeAspect="1"/>
          </p:cNvPicPr>
          <p:nvPr/>
        </p:nvPicPr>
        <p:blipFill>
          <a:blip r:embed="rId3"/>
          <a:stretch>
            <a:fillRect/>
          </a:stretch>
        </p:blipFill>
        <p:spPr>
          <a:xfrm>
            <a:off x="822960" y="2532888"/>
            <a:ext cx="457200" cy="457200"/>
          </a:xfrm>
          <a:prstGeom prst="rect">
            <a:avLst/>
          </a:prstGeom>
        </p:spPr>
      </p:pic>
      <p:sp>
        <p:nvSpPr>
          <p:cNvPr id="13" name="Text 8"/>
          <p:cNvSpPr/>
          <p:nvPr/>
        </p:nvSpPr>
        <p:spPr>
          <a:xfrm>
            <a:off x="1417320" y="2423160"/>
            <a:ext cx="27432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Google Maps</a:t>
            </a:r>
            <a:endParaRPr lang="en-US" sz="1400" dirty="0"/>
          </a:p>
        </p:txBody>
      </p:sp>
      <p:sp>
        <p:nvSpPr>
          <p:cNvPr id="14" name="Text 9"/>
          <p:cNvSpPr/>
          <p:nvPr/>
        </p:nvSpPr>
        <p:spPr>
          <a:xfrm>
            <a:off x="1417320" y="2743200"/>
            <a:ext cx="27432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Predicts traffic and finds the fastest route in real-time</a:t>
            </a:r>
            <a:endParaRPr lang="en-US" sz="1100" dirty="0"/>
          </a:p>
        </p:txBody>
      </p:sp>
      <p:sp>
        <p:nvSpPr>
          <p:cNvPr id="15" name="Shape 10"/>
          <p:cNvSpPr/>
          <p:nvPr/>
        </p:nvSpPr>
        <p:spPr>
          <a:xfrm>
            <a:off x="4709160" y="2331720"/>
            <a:ext cx="3794760" cy="914400"/>
          </a:xfrm>
          <a:prstGeom prst="rect">
            <a:avLst/>
          </a:prstGeom>
          <a:solidFill>
            <a:srgbClr val="FFFFFF"/>
          </a:solidFill>
          <a:ln/>
          <a:effectLst>
            <a:outerShdw sx="100000" sy="100000" kx="0" ky="0" algn="bl" rotWithShape="0" blurRad="50800" dist="12700" dir="8100000">
              <a:srgbClr val="000000">
                <a:alpha val="8000"/>
              </a:srgbClr>
            </a:outerShdw>
          </a:effectLst>
        </p:spPr>
      </p:sp>
      <p:pic>
        <p:nvPicPr>
          <p:cNvPr id="16" name="Image 3" descr="preencoded.png">    </p:cNvPr>
          <p:cNvPicPr>
            <a:picLocks noChangeAspect="1"/>
          </p:cNvPicPr>
          <p:nvPr/>
        </p:nvPicPr>
        <p:blipFill>
          <a:blip r:embed="rId4"/>
          <a:stretch>
            <a:fillRect/>
          </a:stretch>
        </p:blipFill>
        <p:spPr>
          <a:xfrm>
            <a:off x="4892040" y="2532888"/>
            <a:ext cx="457200" cy="457200"/>
          </a:xfrm>
          <a:prstGeom prst="rect">
            <a:avLst/>
          </a:prstGeom>
        </p:spPr>
      </p:pic>
      <p:sp>
        <p:nvSpPr>
          <p:cNvPr id="17" name="Text 11"/>
          <p:cNvSpPr/>
          <p:nvPr/>
        </p:nvSpPr>
        <p:spPr>
          <a:xfrm>
            <a:off x="5486400" y="2423160"/>
            <a:ext cx="27432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Spotify / Netflix</a:t>
            </a:r>
            <a:endParaRPr lang="en-US" sz="1400" dirty="0"/>
          </a:p>
        </p:txBody>
      </p:sp>
      <p:sp>
        <p:nvSpPr>
          <p:cNvPr id="18" name="Text 12"/>
          <p:cNvSpPr/>
          <p:nvPr/>
        </p:nvSpPr>
        <p:spPr>
          <a:xfrm>
            <a:off x="5486400" y="2743200"/>
            <a:ext cx="27432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Recommends content by learning your preferences over time</a:t>
            </a:r>
            <a:endParaRPr lang="en-US" sz="1100" dirty="0"/>
          </a:p>
        </p:txBody>
      </p:sp>
      <p:sp>
        <p:nvSpPr>
          <p:cNvPr id="19" name="Shape 13"/>
          <p:cNvSpPr/>
          <p:nvPr/>
        </p:nvSpPr>
        <p:spPr>
          <a:xfrm>
            <a:off x="640080" y="3474720"/>
            <a:ext cx="3794760" cy="914400"/>
          </a:xfrm>
          <a:prstGeom prst="rect">
            <a:avLst/>
          </a:prstGeom>
          <a:solidFill>
            <a:srgbClr val="FFFFFF"/>
          </a:solidFill>
          <a:ln/>
          <a:effectLst>
            <a:outerShdw sx="100000" sy="100000" kx="0" ky="0" algn="bl" rotWithShape="0" blurRad="50800" dist="12700" dir="8100000">
              <a:srgbClr val="000000">
                <a:alpha val="8000"/>
              </a:srgbClr>
            </a:outerShdw>
          </a:effectLst>
        </p:spPr>
      </p:sp>
      <p:pic>
        <p:nvPicPr>
          <p:cNvPr id="20" name="Image 4" descr="preencoded.png">    </p:cNvPr>
          <p:cNvPicPr>
            <a:picLocks noChangeAspect="1"/>
          </p:cNvPicPr>
          <p:nvPr/>
        </p:nvPicPr>
        <p:blipFill>
          <a:blip r:embed="rId5"/>
          <a:stretch>
            <a:fillRect/>
          </a:stretch>
        </p:blipFill>
        <p:spPr>
          <a:xfrm>
            <a:off x="822960" y="3675888"/>
            <a:ext cx="457200" cy="457200"/>
          </a:xfrm>
          <a:prstGeom prst="rect">
            <a:avLst/>
          </a:prstGeom>
        </p:spPr>
      </p:pic>
      <p:sp>
        <p:nvSpPr>
          <p:cNvPr id="21" name="Text 14"/>
          <p:cNvSpPr/>
          <p:nvPr/>
        </p:nvSpPr>
        <p:spPr>
          <a:xfrm>
            <a:off x="1417320" y="3566160"/>
            <a:ext cx="27432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Phone Camera</a:t>
            </a:r>
            <a:endParaRPr lang="en-US" sz="1400" dirty="0"/>
          </a:p>
        </p:txBody>
      </p:sp>
      <p:sp>
        <p:nvSpPr>
          <p:cNvPr id="22" name="Text 15"/>
          <p:cNvSpPr/>
          <p:nvPr/>
        </p:nvSpPr>
        <p:spPr>
          <a:xfrm>
            <a:off x="1417320" y="3886200"/>
            <a:ext cx="27432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Enhances your photos automatically using image AI</a:t>
            </a:r>
            <a:endParaRPr lang="en-US" sz="1100" dirty="0"/>
          </a:p>
        </p:txBody>
      </p:sp>
      <p:sp>
        <p:nvSpPr>
          <p:cNvPr id="23" name="Shape 16"/>
          <p:cNvSpPr/>
          <p:nvPr/>
        </p:nvSpPr>
        <p:spPr>
          <a:xfrm>
            <a:off x="4709160" y="3474720"/>
            <a:ext cx="3794760" cy="914400"/>
          </a:xfrm>
          <a:prstGeom prst="rect">
            <a:avLst/>
          </a:prstGeom>
          <a:solidFill>
            <a:srgbClr val="FFFFFF"/>
          </a:solidFill>
          <a:ln/>
          <a:effectLst>
            <a:outerShdw sx="100000" sy="100000" kx="0" ky="0" algn="bl" rotWithShape="0" blurRad="50800" dist="12700" dir="8100000">
              <a:srgbClr val="000000">
                <a:alpha val="8000"/>
              </a:srgbClr>
            </a:outerShdw>
          </a:effectLst>
        </p:spPr>
      </p:sp>
      <p:pic>
        <p:nvPicPr>
          <p:cNvPr id="24" name="Image 5" descr="preencoded.png">    </p:cNvPr>
          <p:cNvPicPr>
            <a:picLocks noChangeAspect="1"/>
          </p:cNvPicPr>
          <p:nvPr/>
        </p:nvPicPr>
        <p:blipFill>
          <a:blip r:embed="rId6"/>
          <a:stretch>
            <a:fillRect/>
          </a:stretch>
        </p:blipFill>
        <p:spPr>
          <a:xfrm>
            <a:off x="4892040" y="3675888"/>
            <a:ext cx="457200" cy="457200"/>
          </a:xfrm>
          <a:prstGeom prst="rect">
            <a:avLst/>
          </a:prstGeom>
        </p:spPr>
      </p:pic>
      <p:sp>
        <p:nvSpPr>
          <p:cNvPr id="25" name="Text 17"/>
          <p:cNvSpPr/>
          <p:nvPr/>
        </p:nvSpPr>
        <p:spPr>
          <a:xfrm>
            <a:off x="5486400" y="3566160"/>
            <a:ext cx="2743200" cy="32004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Google Search</a:t>
            </a:r>
            <a:endParaRPr lang="en-US" sz="1400" dirty="0"/>
          </a:p>
        </p:txBody>
      </p:sp>
      <p:sp>
        <p:nvSpPr>
          <p:cNvPr id="26" name="Text 18"/>
          <p:cNvSpPr/>
          <p:nvPr/>
        </p:nvSpPr>
        <p:spPr>
          <a:xfrm>
            <a:off x="5486400" y="3886200"/>
            <a:ext cx="2743200" cy="36576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Ranks billions of pages to find what you're looking for</a:t>
            </a:r>
            <a:endParaRPr lang="en-US" sz="1100" dirty="0"/>
          </a:p>
        </p:txBody>
      </p:sp>
      <p:sp>
        <p:nvSpPr>
          <p:cNvPr id="27" name="Text 19"/>
          <p:cNvSpPr/>
          <p:nvPr/>
        </p:nvSpPr>
        <p:spPr>
          <a:xfrm>
            <a:off x="640080" y="4480560"/>
            <a:ext cx="7772400" cy="320040"/>
          </a:xfrm>
          <a:prstGeom prst="rect">
            <a:avLst/>
          </a:prstGeom>
          <a:noFill/>
          <a:ln/>
        </p:spPr>
        <p:txBody>
          <a:bodyPr wrap="square" lIns="0" tIns="0" rIns="0" bIns="0" rtlCol="0" anchor="ctr"/>
          <a:lstStyle/>
          <a:p>
            <a:pPr indent="0" marL="0">
              <a:buNone/>
            </a:pPr>
            <a:r>
              <a:rPr lang="en-US" sz="1300" b="1" i="1" dirty="0">
                <a:solidFill>
                  <a:srgbClr val="00C9A7"/>
                </a:solidFill>
                <a:latin typeface="Calibri" pitchFamily="34" charset="0"/>
                <a:ea typeface="Calibri" pitchFamily="34" charset="-122"/>
                <a:cs typeface="Calibri" pitchFamily="34" charset="-120"/>
              </a:rPr>
              <a:t>You've been using AI for years — you just didn't call it that.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640080" y="274320"/>
            <a:ext cx="77724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How Generative AI Actually Works</a:t>
            </a:r>
            <a:endParaRPr lang="en-US" sz="3200" dirty="0"/>
          </a:p>
        </p:txBody>
      </p:sp>
      <p:sp>
        <p:nvSpPr>
          <p:cNvPr id="3" name="Text 1"/>
          <p:cNvSpPr/>
          <p:nvPr/>
        </p:nvSpPr>
        <p:spPr>
          <a:xfrm>
            <a:off x="640080" y="1188720"/>
            <a:ext cx="7772400" cy="640080"/>
          </a:xfrm>
          <a:prstGeom prst="rect">
            <a:avLst/>
          </a:prstGeom>
          <a:noFill/>
          <a:ln/>
        </p:spPr>
        <p:txBody>
          <a:bodyPr wrap="square" lIns="0" tIns="0" rIns="0" bIns="0" rtlCol="0" anchor="ctr"/>
          <a:lstStyle/>
          <a:p>
            <a:pPr algn="ctr" indent="0" marL="0">
              <a:buNone/>
            </a:pPr>
            <a:r>
              <a:rPr lang="en-US" sz="3000" dirty="0">
                <a:solidFill>
                  <a:srgbClr val="E2E8F0"/>
                </a:solidFill>
                <a:latin typeface="Consolas" pitchFamily="34" charset="0"/>
                <a:ea typeface="Consolas" pitchFamily="34" charset="-122"/>
                <a:cs typeface="Consolas" pitchFamily="34" charset="-120"/>
              </a:rPr>
              <a:t>The  cat  sat  on  the  ___</a:t>
            </a:r>
            <a:endParaRPr lang="en-US" sz="3000" dirty="0"/>
          </a:p>
        </p:txBody>
      </p:sp>
      <p:sp>
        <p:nvSpPr>
          <p:cNvPr id="4" name="Text 2"/>
          <p:cNvSpPr/>
          <p:nvPr/>
        </p:nvSpPr>
        <p:spPr>
          <a:xfrm>
            <a:off x="1097280" y="2148840"/>
            <a:ext cx="1097280" cy="320040"/>
          </a:xfrm>
          <a:prstGeom prst="rect">
            <a:avLst/>
          </a:prstGeom>
          <a:noFill/>
          <a:ln/>
        </p:spPr>
        <p:txBody>
          <a:bodyPr wrap="square" lIns="0" tIns="0" rIns="0" bIns="0" rtlCol="0" anchor="ctr"/>
          <a:lstStyle/>
          <a:p>
            <a:pPr algn="r" indent="0" marL="0">
              <a:buNone/>
            </a:pPr>
            <a:r>
              <a:rPr lang="en-US" sz="1500" dirty="0">
                <a:solidFill>
                  <a:srgbClr val="E2E8F0"/>
                </a:solidFill>
                <a:latin typeface="Consolas" pitchFamily="34" charset="0"/>
                <a:ea typeface="Consolas" pitchFamily="34" charset="-122"/>
                <a:cs typeface="Consolas" pitchFamily="34" charset="-120"/>
              </a:rPr>
              <a:t>mat</a:t>
            </a:r>
            <a:endParaRPr lang="en-US" sz="1500" dirty="0"/>
          </a:p>
        </p:txBody>
      </p:sp>
      <p:sp>
        <p:nvSpPr>
          <p:cNvPr id="5" name="Shape 3"/>
          <p:cNvSpPr/>
          <p:nvPr/>
        </p:nvSpPr>
        <p:spPr>
          <a:xfrm>
            <a:off x="2377440" y="2194560"/>
            <a:ext cx="5029200" cy="228600"/>
          </a:xfrm>
          <a:prstGeom prst="rect">
            <a:avLst/>
          </a:prstGeom>
          <a:solidFill>
            <a:srgbClr val="151E2F"/>
          </a:solidFill>
          <a:ln/>
        </p:spPr>
      </p:sp>
      <p:sp>
        <p:nvSpPr>
          <p:cNvPr id="6" name="Shape 4"/>
          <p:cNvSpPr/>
          <p:nvPr/>
        </p:nvSpPr>
        <p:spPr>
          <a:xfrm>
            <a:off x="2377440" y="2194560"/>
            <a:ext cx="5029200" cy="228600"/>
          </a:xfrm>
          <a:prstGeom prst="rect">
            <a:avLst/>
          </a:prstGeom>
          <a:solidFill>
            <a:srgbClr val="00C9A7"/>
          </a:solidFill>
          <a:ln/>
        </p:spPr>
      </p:sp>
      <p:sp>
        <p:nvSpPr>
          <p:cNvPr id="7" name="Text 5"/>
          <p:cNvSpPr/>
          <p:nvPr/>
        </p:nvSpPr>
        <p:spPr>
          <a:xfrm>
            <a:off x="7543800" y="2148840"/>
            <a:ext cx="731520" cy="320040"/>
          </a:xfrm>
          <a:prstGeom prst="rect">
            <a:avLst/>
          </a:prstGeom>
          <a:noFill/>
          <a:ln/>
        </p:spPr>
        <p:txBody>
          <a:bodyPr wrap="square" lIns="0" tIns="0" rIns="0" bIns="0" rtlCol="0" anchor="ctr"/>
          <a:lstStyle/>
          <a:p>
            <a:pPr indent="0" marL="0">
              <a:buNone/>
            </a:pPr>
            <a:r>
              <a:rPr lang="en-US" sz="1300" b="1" dirty="0">
                <a:solidFill>
                  <a:srgbClr val="00C9A7"/>
                </a:solidFill>
                <a:latin typeface="Calibri" pitchFamily="34" charset="0"/>
                <a:ea typeface="Calibri" pitchFamily="34" charset="-122"/>
                <a:cs typeface="Calibri" pitchFamily="34" charset="-120"/>
              </a:rPr>
              <a:t>62%</a:t>
            </a:r>
            <a:endParaRPr lang="en-US" sz="1300" dirty="0"/>
          </a:p>
        </p:txBody>
      </p:sp>
      <p:sp>
        <p:nvSpPr>
          <p:cNvPr id="8" name="Text 6"/>
          <p:cNvSpPr/>
          <p:nvPr/>
        </p:nvSpPr>
        <p:spPr>
          <a:xfrm>
            <a:off x="1097280" y="2587752"/>
            <a:ext cx="1097280" cy="320040"/>
          </a:xfrm>
          <a:prstGeom prst="rect">
            <a:avLst/>
          </a:prstGeom>
          <a:noFill/>
          <a:ln/>
        </p:spPr>
        <p:txBody>
          <a:bodyPr wrap="square" lIns="0" tIns="0" rIns="0" bIns="0" rtlCol="0" anchor="ctr"/>
          <a:lstStyle/>
          <a:p>
            <a:pPr algn="r" indent="0" marL="0">
              <a:buNone/>
            </a:pPr>
            <a:r>
              <a:rPr lang="en-US" sz="1500" dirty="0">
                <a:solidFill>
                  <a:srgbClr val="E2E8F0"/>
                </a:solidFill>
                <a:latin typeface="Consolas" pitchFamily="34" charset="0"/>
                <a:ea typeface="Consolas" pitchFamily="34" charset="-122"/>
                <a:cs typeface="Consolas" pitchFamily="34" charset="-120"/>
              </a:rPr>
              <a:t>chair</a:t>
            </a:r>
            <a:endParaRPr lang="en-US" sz="1500" dirty="0"/>
          </a:p>
        </p:txBody>
      </p:sp>
      <p:sp>
        <p:nvSpPr>
          <p:cNvPr id="9" name="Shape 7"/>
          <p:cNvSpPr/>
          <p:nvPr/>
        </p:nvSpPr>
        <p:spPr>
          <a:xfrm>
            <a:off x="2377440" y="2633472"/>
            <a:ext cx="5029200" cy="228600"/>
          </a:xfrm>
          <a:prstGeom prst="rect">
            <a:avLst/>
          </a:prstGeom>
          <a:solidFill>
            <a:srgbClr val="151E2F"/>
          </a:solidFill>
          <a:ln/>
        </p:spPr>
      </p:sp>
      <p:sp>
        <p:nvSpPr>
          <p:cNvPr id="10" name="Shape 8"/>
          <p:cNvSpPr/>
          <p:nvPr/>
        </p:nvSpPr>
        <p:spPr>
          <a:xfrm>
            <a:off x="2377440" y="2633472"/>
            <a:ext cx="1460090" cy="228600"/>
          </a:xfrm>
          <a:prstGeom prst="rect">
            <a:avLst/>
          </a:prstGeom>
          <a:solidFill>
            <a:srgbClr val="7C6BFF"/>
          </a:solidFill>
          <a:ln/>
        </p:spPr>
      </p:sp>
      <p:sp>
        <p:nvSpPr>
          <p:cNvPr id="11" name="Text 9"/>
          <p:cNvSpPr/>
          <p:nvPr/>
        </p:nvSpPr>
        <p:spPr>
          <a:xfrm>
            <a:off x="3974690" y="2587752"/>
            <a:ext cx="731520" cy="320040"/>
          </a:xfrm>
          <a:prstGeom prst="rect">
            <a:avLst/>
          </a:prstGeom>
          <a:noFill/>
          <a:ln/>
        </p:spPr>
        <p:txBody>
          <a:bodyPr wrap="square" lIns="0" tIns="0" rIns="0" bIns="0" rtlCol="0" anchor="ctr"/>
          <a:lstStyle/>
          <a:p>
            <a:pPr indent="0" marL="0">
              <a:buNone/>
            </a:pPr>
            <a:r>
              <a:rPr lang="en-US" sz="1300" b="1" dirty="0">
                <a:solidFill>
                  <a:srgbClr val="7C6BFF"/>
                </a:solidFill>
                <a:latin typeface="Calibri" pitchFamily="34" charset="0"/>
                <a:ea typeface="Calibri" pitchFamily="34" charset="-122"/>
                <a:cs typeface="Calibri" pitchFamily="34" charset="-120"/>
              </a:rPr>
              <a:t>18%</a:t>
            </a:r>
            <a:endParaRPr lang="en-US" sz="1300" dirty="0"/>
          </a:p>
        </p:txBody>
      </p:sp>
      <p:sp>
        <p:nvSpPr>
          <p:cNvPr id="12" name="Text 10"/>
          <p:cNvSpPr/>
          <p:nvPr/>
        </p:nvSpPr>
        <p:spPr>
          <a:xfrm>
            <a:off x="1097280" y="3026664"/>
            <a:ext cx="1097280" cy="320040"/>
          </a:xfrm>
          <a:prstGeom prst="rect">
            <a:avLst/>
          </a:prstGeom>
          <a:noFill/>
          <a:ln/>
        </p:spPr>
        <p:txBody>
          <a:bodyPr wrap="square" lIns="0" tIns="0" rIns="0" bIns="0" rtlCol="0" anchor="ctr"/>
          <a:lstStyle/>
          <a:p>
            <a:pPr algn="r" indent="0" marL="0">
              <a:buNone/>
            </a:pPr>
            <a:r>
              <a:rPr lang="en-US" sz="1500" dirty="0">
                <a:solidFill>
                  <a:srgbClr val="E2E8F0"/>
                </a:solidFill>
                <a:latin typeface="Consolas" pitchFamily="34" charset="0"/>
                <a:ea typeface="Consolas" pitchFamily="34" charset="-122"/>
                <a:cs typeface="Consolas" pitchFamily="34" charset="-120"/>
              </a:rPr>
              <a:t>roof</a:t>
            </a:r>
            <a:endParaRPr lang="en-US" sz="1500" dirty="0"/>
          </a:p>
        </p:txBody>
      </p:sp>
      <p:sp>
        <p:nvSpPr>
          <p:cNvPr id="13" name="Shape 11"/>
          <p:cNvSpPr/>
          <p:nvPr/>
        </p:nvSpPr>
        <p:spPr>
          <a:xfrm>
            <a:off x="2377440" y="3072384"/>
            <a:ext cx="5029200" cy="228600"/>
          </a:xfrm>
          <a:prstGeom prst="rect">
            <a:avLst/>
          </a:prstGeom>
          <a:solidFill>
            <a:srgbClr val="151E2F"/>
          </a:solidFill>
          <a:ln/>
        </p:spPr>
      </p:sp>
      <p:sp>
        <p:nvSpPr>
          <p:cNvPr id="14" name="Shape 12"/>
          <p:cNvSpPr/>
          <p:nvPr/>
        </p:nvSpPr>
        <p:spPr>
          <a:xfrm>
            <a:off x="2377440" y="3072384"/>
            <a:ext cx="811161" cy="228600"/>
          </a:xfrm>
          <a:prstGeom prst="rect">
            <a:avLst/>
          </a:prstGeom>
          <a:solidFill>
            <a:srgbClr val="FFAA33"/>
          </a:solidFill>
          <a:ln/>
        </p:spPr>
      </p:sp>
      <p:sp>
        <p:nvSpPr>
          <p:cNvPr id="15" name="Text 13"/>
          <p:cNvSpPr/>
          <p:nvPr/>
        </p:nvSpPr>
        <p:spPr>
          <a:xfrm>
            <a:off x="3325761" y="3026664"/>
            <a:ext cx="731520" cy="320040"/>
          </a:xfrm>
          <a:prstGeom prst="rect">
            <a:avLst/>
          </a:prstGeom>
          <a:noFill/>
          <a:ln/>
        </p:spPr>
        <p:txBody>
          <a:bodyPr wrap="square" lIns="0" tIns="0" rIns="0" bIns="0" rtlCol="0" anchor="ctr"/>
          <a:lstStyle/>
          <a:p>
            <a:pPr indent="0" marL="0">
              <a:buNone/>
            </a:pPr>
            <a:r>
              <a:rPr lang="en-US" sz="1300" b="1" dirty="0">
                <a:solidFill>
                  <a:srgbClr val="FFAA33"/>
                </a:solidFill>
                <a:latin typeface="Calibri" pitchFamily="34" charset="0"/>
                <a:ea typeface="Calibri" pitchFamily="34" charset="-122"/>
                <a:cs typeface="Calibri" pitchFamily="34" charset="-120"/>
              </a:rPr>
              <a:t>10%</a:t>
            </a:r>
            <a:endParaRPr lang="en-US" sz="1300" dirty="0"/>
          </a:p>
        </p:txBody>
      </p:sp>
      <p:sp>
        <p:nvSpPr>
          <p:cNvPr id="16" name="Text 14"/>
          <p:cNvSpPr/>
          <p:nvPr/>
        </p:nvSpPr>
        <p:spPr>
          <a:xfrm>
            <a:off x="1097280" y="3465576"/>
            <a:ext cx="1097280" cy="320040"/>
          </a:xfrm>
          <a:prstGeom prst="rect">
            <a:avLst/>
          </a:prstGeom>
          <a:noFill/>
          <a:ln/>
        </p:spPr>
        <p:txBody>
          <a:bodyPr wrap="square" lIns="0" tIns="0" rIns="0" bIns="0" rtlCol="0" anchor="ctr"/>
          <a:lstStyle/>
          <a:p>
            <a:pPr algn="r" indent="0" marL="0">
              <a:buNone/>
            </a:pPr>
            <a:r>
              <a:rPr lang="en-US" sz="1500" dirty="0">
                <a:solidFill>
                  <a:srgbClr val="E2E8F0"/>
                </a:solidFill>
                <a:latin typeface="Consolas" pitchFamily="34" charset="0"/>
                <a:ea typeface="Consolas" pitchFamily="34" charset="-122"/>
                <a:cs typeface="Consolas" pitchFamily="34" charset="-120"/>
              </a:rPr>
              <a:t>table</a:t>
            </a:r>
            <a:endParaRPr lang="en-US" sz="1500" dirty="0"/>
          </a:p>
        </p:txBody>
      </p:sp>
      <p:sp>
        <p:nvSpPr>
          <p:cNvPr id="17" name="Shape 15"/>
          <p:cNvSpPr/>
          <p:nvPr/>
        </p:nvSpPr>
        <p:spPr>
          <a:xfrm>
            <a:off x="2377440" y="3511296"/>
            <a:ext cx="5029200" cy="228600"/>
          </a:xfrm>
          <a:prstGeom prst="rect">
            <a:avLst/>
          </a:prstGeom>
          <a:solidFill>
            <a:srgbClr val="151E2F"/>
          </a:solidFill>
          <a:ln/>
        </p:spPr>
      </p:sp>
      <p:sp>
        <p:nvSpPr>
          <p:cNvPr id="18" name="Shape 16"/>
          <p:cNvSpPr/>
          <p:nvPr/>
        </p:nvSpPr>
        <p:spPr>
          <a:xfrm>
            <a:off x="2377440" y="3511296"/>
            <a:ext cx="567813" cy="228600"/>
          </a:xfrm>
          <a:prstGeom prst="rect">
            <a:avLst/>
          </a:prstGeom>
          <a:solidFill>
            <a:srgbClr val="FF6B6B"/>
          </a:solidFill>
          <a:ln/>
        </p:spPr>
      </p:sp>
      <p:sp>
        <p:nvSpPr>
          <p:cNvPr id="19" name="Text 17"/>
          <p:cNvSpPr/>
          <p:nvPr/>
        </p:nvSpPr>
        <p:spPr>
          <a:xfrm>
            <a:off x="3082413" y="3465576"/>
            <a:ext cx="731520" cy="320040"/>
          </a:xfrm>
          <a:prstGeom prst="rect">
            <a:avLst/>
          </a:prstGeom>
          <a:noFill/>
          <a:ln/>
        </p:spPr>
        <p:txBody>
          <a:bodyPr wrap="square" lIns="0" tIns="0" rIns="0" bIns="0" rtlCol="0" anchor="ctr"/>
          <a:lstStyle/>
          <a:p>
            <a:pPr indent="0" marL="0">
              <a:buNone/>
            </a:pPr>
            <a:r>
              <a:rPr lang="en-US" sz="1300" b="1" dirty="0">
                <a:solidFill>
                  <a:srgbClr val="FF6B6B"/>
                </a:solidFill>
                <a:latin typeface="Calibri" pitchFamily="34" charset="0"/>
                <a:ea typeface="Calibri" pitchFamily="34" charset="-122"/>
                <a:cs typeface="Calibri" pitchFamily="34" charset="-120"/>
              </a:rPr>
              <a:t>7%</a:t>
            </a:r>
            <a:endParaRPr lang="en-US" sz="1300" dirty="0"/>
          </a:p>
        </p:txBody>
      </p:sp>
      <p:sp>
        <p:nvSpPr>
          <p:cNvPr id="20" name="Text 18"/>
          <p:cNvSpPr/>
          <p:nvPr/>
        </p:nvSpPr>
        <p:spPr>
          <a:xfrm>
            <a:off x="1097280" y="3904488"/>
            <a:ext cx="1097280" cy="320040"/>
          </a:xfrm>
          <a:prstGeom prst="rect">
            <a:avLst/>
          </a:prstGeom>
          <a:noFill/>
          <a:ln/>
        </p:spPr>
        <p:txBody>
          <a:bodyPr wrap="square" lIns="0" tIns="0" rIns="0" bIns="0" rtlCol="0" anchor="ctr"/>
          <a:lstStyle/>
          <a:p>
            <a:pPr algn="r" indent="0" marL="0">
              <a:buNone/>
            </a:pPr>
            <a:r>
              <a:rPr lang="en-US" sz="1500" dirty="0">
                <a:solidFill>
                  <a:srgbClr val="E2E8F0"/>
                </a:solidFill>
                <a:latin typeface="Consolas" pitchFamily="34" charset="0"/>
                <a:ea typeface="Consolas" pitchFamily="34" charset="-122"/>
                <a:cs typeface="Consolas" pitchFamily="34" charset="-120"/>
              </a:rPr>
              <a:t>...</a:t>
            </a:r>
            <a:endParaRPr lang="en-US" sz="1500" dirty="0"/>
          </a:p>
        </p:txBody>
      </p:sp>
      <p:sp>
        <p:nvSpPr>
          <p:cNvPr id="21" name="Shape 19"/>
          <p:cNvSpPr/>
          <p:nvPr/>
        </p:nvSpPr>
        <p:spPr>
          <a:xfrm>
            <a:off x="2377440" y="3950208"/>
            <a:ext cx="5029200" cy="228600"/>
          </a:xfrm>
          <a:prstGeom prst="rect">
            <a:avLst/>
          </a:prstGeom>
          <a:solidFill>
            <a:srgbClr val="151E2F"/>
          </a:solidFill>
          <a:ln/>
        </p:spPr>
      </p:sp>
      <p:sp>
        <p:nvSpPr>
          <p:cNvPr id="22" name="Shape 20"/>
          <p:cNvSpPr/>
          <p:nvPr/>
        </p:nvSpPr>
        <p:spPr>
          <a:xfrm>
            <a:off x="2377440" y="3950208"/>
            <a:ext cx="243348" cy="228600"/>
          </a:xfrm>
          <a:prstGeom prst="rect">
            <a:avLst/>
          </a:prstGeom>
          <a:solidFill>
            <a:srgbClr val="94A3B8"/>
          </a:solidFill>
          <a:ln/>
        </p:spPr>
      </p:sp>
      <p:sp>
        <p:nvSpPr>
          <p:cNvPr id="23" name="Text 21"/>
          <p:cNvSpPr/>
          <p:nvPr/>
        </p:nvSpPr>
        <p:spPr>
          <a:xfrm>
            <a:off x="2757948" y="3904488"/>
            <a:ext cx="731520" cy="320040"/>
          </a:xfrm>
          <a:prstGeom prst="rect">
            <a:avLst/>
          </a:prstGeom>
          <a:noFill/>
          <a:ln/>
        </p:spPr>
        <p:txBody>
          <a:bodyPr wrap="square" lIns="0" tIns="0" rIns="0" bIns="0" rtlCol="0" anchor="ctr"/>
          <a:lstStyle/>
          <a:p>
            <a:pPr indent="0" marL="0">
              <a:buNone/>
            </a:pPr>
            <a:r>
              <a:rPr lang="en-US" sz="1300" b="1" dirty="0">
                <a:solidFill>
                  <a:srgbClr val="94A3B8"/>
                </a:solidFill>
                <a:latin typeface="Calibri" pitchFamily="34" charset="0"/>
                <a:ea typeface="Calibri" pitchFamily="34" charset="-122"/>
                <a:cs typeface="Calibri" pitchFamily="34" charset="-120"/>
              </a:rPr>
              <a:t>3%</a:t>
            </a:r>
            <a:endParaRPr lang="en-US" sz="1300" dirty="0"/>
          </a:p>
        </p:txBody>
      </p:sp>
      <p:sp>
        <p:nvSpPr>
          <p:cNvPr id="24" name="Shape 22"/>
          <p:cNvSpPr/>
          <p:nvPr/>
        </p:nvSpPr>
        <p:spPr>
          <a:xfrm>
            <a:off x="640080" y="4343400"/>
            <a:ext cx="7863840" cy="548640"/>
          </a:xfrm>
          <a:prstGeom prst="rect">
            <a:avLst/>
          </a:prstGeom>
          <a:solidFill>
            <a:srgbClr val="151E2F"/>
          </a:solidFill>
          <a:ln w="12700">
            <a:solidFill>
              <a:srgbClr val="00C9A7"/>
            </a:solidFill>
            <a:prstDash val="solid"/>
          </a:ln>
        </p:spPr>
      </p:sp>
      <p:sp>
        <p:nvSpPr>
          <p:cNvPr id="25" name="Text 23"/>
          <p:cNvSpPr/>
          <p:nvPr/>
        </p:nvSpPr>
        <p:spPr>
          <a:xfrm>
            <a:off x="822960" y="4343400"/>
            <a:ext cx="7498080" cy="548640"/>
          </a:xfrm>
          <a:prstGeom prst="rect">
            <a:avLst/>
          </a:prstGeom>
          <a:noFill/>
          <a:ln/>
        </p:spPr>
        <p:txBody>
          <a:bodyPr wrap="square" lIns="0" tIns="0" rIns="0" bIns="0" rtlCol="0" anchor="ctr"/>
          <a:lstStyle/>
          <a:p>
            <a:pPr algn="ctr" indent="0" marL="0">
              <a:buNone/>
            </a:pPr>
            <a:r>
              <a:rPr lang="en-US" sz="1400" b="1" dirty="0">
                <a:solidFill>
                  <a:srgbClr val="00C9A7"/>
                </a:solidFill>
                <a:latin typeface="Calibri" pitchFamily="34" charset="0"/>
                <a:ea typeface="Calibri" pitchFamily="34" charset="-122"/>
                <a:cs typeface="Calibri" pitchFamily="34" charset="-120"/>
              </a:rPr>
              <a:t>It predicts the most probable next word — billions of times in sequence.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40080" y="320040"/>
            <a:ext cx="7772400" cy="640080"/>
          </a:xfrm>
          <a:prstGeom prst="rect">
            <a:avLst/>
          </a:prstGeom>
          <a:noFill/>
          <a:ln/>
        </p:spPr>
        <p:txBody>
          <a:bodyPr wrap="square" lIns="0" tIns="0" rIns="0" bIns="0"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The AI Landscape Today</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097280"/>
          <a:ext cx="7863840" cy="914400"/>
        </p:xfrm>
        <a:graphic>
          <a:graphicData uri="http://schemas.openxmlformats.org/drawingml/2006/table">
            <a:tbl>
              <a:tblPr/>
              <a:tblGrid>
                <a:gridCol w="1463040"/>
                <a:gridCol w="1645920"/>
                <a:gridCol w="2011680"/>
                <a:gridCol w="2743200"/>
              </a:tblGrid>
              <a:tr h="41148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Company</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12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12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You Know It As</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12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Best For</a:t>
                      </a:r>
                      <a:endParaRPr lang="en-US" sz="1300" dirty="0">
                        <a:latin typeface="Calibri" charset="0"/>
                        <a:ea typeface="Calibri" charset="0"/>
                        <a:cs typeface="Calibri" charset="0"/>
                      </a:endParaRPr>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B1120"/>
                    </a:solidFill>
                  </a:tcPr>
                </a:tc>
              </a:tr>
              <a:tr h="457200">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OpenAI</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GPT-4o</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ChatGPT</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475569"/>
                          </a:solidFill>
                          <a:latin typeface="Calibri" pitchFamily="34" charset="0"/>
                          <a:ea typeface="Calibri" pitchFamily="34" charset="-122"/>
                          <a:cs typeface="Calibri" pitchFamily="34" charset="-120"/>
                        </a:rPr>
                        <a:t>General chat, writing, coding</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Anthropic</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B"/>
                    </a:solidFill>
                  </a:tcPr>
                </a:tc>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Claude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B"/>
                    </a:solidFill>
                  </a:tcPr>
                </a:tc>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Claude.ai</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B"/>
                    </a:solidFill>
                  </a:tcPr>
                </a:tc>
                <a:tc>
                  <a:txBody>
                    <a:bodyPr/>
                    <a:lstStyle/>
                    <a:p>
                      <a:pPr indent="0" marL="0">
                        <a:buNone/>
                      </a:pPr>
                      <a:r>
                        <a:rPr lang="en-US" sz="1100" dirty="0">
                          <a:solidFill>
                            <a:srgbClr val="475569"/>
                          </a:solidFill>
                          <a:latin typeface="Calibri" pitchFamily="34" charset="0"/>
                          <a:ea typeface="Calibri" pitchFamily="34" charset="-122"/>
                          <a:cs typeface="Calibri" pitchFamily="34" charset="-120"/>
                        </a:rPr>
                        <a:t>Long documents, analysis, nuance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B"/>
                    </a:solidFill>
                  </a:tcPr>
                </a:tc>
              </a:tr>
              <a:tr h="457200">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Google</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Gemini</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Gemini / Google AI</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475569"/>
                          </a:solidFill>
                          <a:latin typeface="Calibri" pitchFamily="34" charset="0"/>
                          <a:ea typeface="Calibri" pitchFamily="34" charset="-122"/>
                          <a:cs typeface="Calibri" pitchFamily="34" charset="-120"/>
                        </a:rPr>
                        <a:t>Search integration, Google Workspace</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Microsoft</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B"/>
                    </a:solidFill>
                  </a:tcPr>
                </a:tc>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GPT-4 (licensed)</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B"/>
                    </a:solidFill>
                  </a:tcPr>
                </a:tc>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Copilot</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B"/>
                    </a:solidFill>
                  </a:tcPr>
                </a:tc>
                <a:tc>
                  <a:txBody>
                    <a:bodyPr/>
                    <a:lstStyle/>
                    <a:p>
                      <a:pPr indent="0" marL="0">
                        <a:buNone/>
                      </a:pPr>
                      <a:r>
                        <a:rPr lang="en-US" sz="1100" dirty="0">
                          <a:solidFill>
                            <a:srgbClr val="475569"/>
                          </a:solidFill>
                          <a:latin typeface="Calibri" pitchFamily="34" charset="0"/>
                          <a:ea typeface="Calibri" pitchFamily="34" charset="-122"/>
                          <a:cs typeface="Calibri" pitchFamily="34" charset="-120"/>
                        </a:rPr>
                        <a:t>Office apps (Word, Excel, Outlook)</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0FDFB"/>
                    </a:solidFill>
                  </a:tcPr>
                </a:tc>
              </a:tr>
              <a:tr h="457200">
                <a:tc>
                  <a:txBody>
                    <a:bodyPr/>
                    <a:lstStyle/>
                    <a:p>
                      <a:pPr indent="0" marL="0">
                        <a:buNone/>
                      </a:pPr>
                      <a:r>
                        <a:rPr lang="en-US" sz="1200" b="1" dirty="0">
                          <a:solidFill>
                            <a:srgbClr val="1E293B"/>
                          </a:solidFill>
                          <a:latin typeface="Calibri" pitchFamily="34" charset="0"/>
                          <a:ea typeface="Calibri" pitchFamily="34" charset="-122"/>
                          <a:cs typeface="Calibri" pitchFamily="34" charset="-120"/>
                        </a:rPr>
                        <a:t>Meta</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Llama</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475569"/>
                          </a:solidFill>
                          <a:latin typeface="Calibri" pitchFamily="34" charset="0"/>
                          <a:ea typeface="Calibri" pitchFamily="34" charset="-122"/>
                          <a:cs typeface="Calibri" pitchFamily="34" charset="-120"/>
                        </a:rPr>
                        <a:t>Meta AI</a:t>
                      </a:r>
                      <a:endParaRPr lang="en-US" sz="12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100" dirty="0">
                          <a:solidFill>
                            <a:srgbClr val="475569"/>
                          </a:solidFill>
                          <a:latin typeface="Calibri" pitchFamily="34" charset="0"/>
                          <a:ea typeface="Calibri" pitchFamily="34" charset="-122"/>
                          <a:cs typeface="Calibri" pitchFamily="34" charset="-120"/>
                        </a:rPr>
                        <a:t>Open source, runs locally</a:t>
                      </a:r>
                      <a:endParaRPr lang="en-US" sz="1100" dirty="0">
                        <a:latin typeface="Calibri" charset="0"/>
                        <a:ea typeface="Calibri" charset="0"/>
                        <a:cs typeface="Calibri" charset="0"/>
                      </a:endParaRPr>
                    </a:p>
                  </a:txBody>
                  <a:tcPr marL="91440" marR="91440" marT="45720" marB="45720">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4" name="Shape 1"/>
          <p:cNvSpPr/>
          <p:nvPr/>
        </p:nvSpPr>
        <p:spPr>
          <a:xfrm>
            <a:off x="640080" y="4114800"/>
            <a:ext cx="7863840" cy="777240"/>
          </a:xfrm>
          <a:prstGeom prst="rect">
            <a:avLst/>
          </a:prstGeom>
          <a:solidFill>
            <a:srgbClr val="0B1120"/>
          </a:solidFill>
          <a:ln/>
        </p:spPr>
      </p:sp>
      <p:sp>
        <p:nvSpPr>
          <p:cNvPr id="5" name="Text 2"/>
          <p:cNvSpPr/>
          <p:nvPr/>
        </p:nvSpPr>
        <p:spPr>
          <a:xfrm>
            <a:off x="822960" y="4160520"/>
            <a:ext cx="7498080" cy="685800"/>
          </a:xfrm>
          <a:prstGeom prst="rect">
            <a:avLst/>
          </a:prstGeom>
          <a:noFill/>
          <a:ln/>
        </p:spPr>
        <p:txBody>
          <a:bodyPr wrap="square" lIns="0" tIns="0" rIns="0" bIns="0" rtlCol="0" anchor="ctr"/>
          <a:lstStyle/>
          <a:p>
            <a:pPr indent="0" marL="0">
              <a:buNone/>
            </a:pPr>
            <a:r>
              <a:rPr lang="en-US" sz="1200" b="1" dirty="0">
                <a:solidFill>
                  <a:srgbClr val="00C9A7"/>
                </a:solidFill>
                <a:latin typeface="Calibri" pitchFamily="34" charset="0"/>
                <a:ea typeface="Calibri" pitchFamily="34" charset="-122"/>
                <a:cs typeface="Calibri" pitchFamily="34" charset="-120"/>
              </a:rPr>
              <a:t>Key terms:  </a:t>
            </a:r>
            <a:pPr indent="0" marL="0">
              <a:buNone/>
            </a:pPr>
            <a:r>
              <a:rPr lang="en-US" sz="1200" b="1" dirty="0">
                <a:solidFill>
                  <a:srgbClr val="FFFFFF"/>
                </a:solidFill>
                <a:latin typeface="Calibri" pitchFamily="34" charset="0"/>
                <a:ea typeface="Calibri" pitchFamily="34" charset="-122"/>
                <a:cs typeface="Calibri" pitchFamily="34" charset="-120"/>
              </a:rPr>
              <a:t>LLM</a:t>
            </a:r>
            <a:pPr indent="0" marL="0">
              <a:buNone/>
            </a:pPr>
            <a:r>
              <a:rPr lang="en-US" sz="1100" dirty="0">
                <a:solidFill>
                  <a:srgbClr val="94A3B8"/>
                </a:solidFill>
                <a:latin typeface="Calibri" pitchFamily="34" charset="0"/>
                <a:ea typeface="Calibri" pitchFamily="34" charset="-122"/>
                <a:cs typeface="Calibri" pitchFamily="34" charset="-120"/>
              </a:rPr>
              <a:t> = Large Language Model (the engine)  •  </a:t>
            </a:r>
            <a:pPr indent="0" marL="0">
              <a:buNone/>
            </a:pPr>
            <a:r>
              <a:rPr lang="en-US" sz="1200" b="1" dirty="0">
                <a:solidFill>
                  <a:srgbClr val="FFFFFF"/>
                </a:solidFill>
                <a:latin typeface="Calibri" pitchFamily="34" charset="0"/>
                <a:ea typeface="Calibri" pitchFamily="34" charset="-122"/>
                <a:cs typeface="Calibri" pitchFamily="34" charset="-120"/>
              </a:rPr>
              <a:t>Prompt</a:t>
            </a:r>
            <a:pPr indent="0" marL="0">
              <a:buNone/>
            </a:pPr>
            <a:r>
              <a:rPr lang="en-US" sz="1100" dirty="0">
                <a:solidFill>
                  <a:srgbClr val="94A3B8"/>
                </a:solidFill>
                <a:latin typeface="Calibri" pitchFamily="34" charset="0"/>
                <a:ea typeface="Calibri" pitchFamily="34" charset="-122"/>
                <a:cs typeface="Calibri" pitchFamily="34" charset="-120"/>
              </a:rPr>
              <a:t> = Your instruction to the AI  •  </a:t>
            </a:r>
            <a:pPr indent="0" marL="0">
              <a:buNone/>
            </a:pPr>
            <a:r>
              <a:rPr lang="en-US" sz="1200" b="1" dirty="0">
                <a:solidFill>
                  <a:srgbClr val="FFFFFF"/>
                </a:solidFill>
                <a:latin typeface="Calibri" pitchFamily="34" charset="0"/>
                <a:ea typeface="Calibri" pitchFamily="34" charset="-122"/>
                <a:cs typeface="Calibri" pitchFamily="34" charset="-120"/>
              </a:rPr>
              <a:t>Hallucination</a:t>
            </a:r>
            <a:pPr indent="0" marL="0">
              <a:buNone/>
            </a:pPr>
            <a:r>
              <a:rPr lang="en-US" sz="1100" dirty="0">
                <a:solidFill>
                  <a:srgbClr val="94A3B8"/>
                </a:solidFill>
                <a:latin typeface="Calibri" pitchFamily="34" charset="0"/>
                <a:ea typeface="Calibri" pitchFamily="34" charset="-122"/>
                <a:cs typeface="Calibri" pitchFamily="34" charset="-120"/>
              </a:rPr>
              <a:t> = When AI confidently makes things up</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40080" y="320040"/>
            <a:ext cx="4572000" cy="640080"/>
          </a:xfrm>
          <a:prstGeom prst="rect">
            <a:avLst/>
          </a:prstGeom>
          <a:noFill/>
          <a:ln/>
        </p:spPr>
        <p:txBody>
          <a:bodyPr wrap="square" lIns="0" tIns="0" rIns="0" bIns="0"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What AI Can Do</a:t>
            </a:r>
            <a:endParaRPr lang="en-US" sz="3200" dirty="0"/>
          </a:p>
        </p:txBody>
      </p:sp>
      <p:sp>
        <p:nvSpPr>
          <p:cNvPr id="3" name="Text 1"/>
          <p:cNvSpPr/>
          <p:nvPr/>
        </p:nvSpPr>
        <p:spPr>
          <a:xfrm>
            <a:off x="5029200" y="411480"/>
            <a:ext cx="3657600" cy="457200"/>
          </a:xfrm>
          <a:prstGeom prst="rect">
            <a:avLst/>
          </a:prstGeom>
          <a:noFill/>
          <a:ln/>
        </p:spPr>
        <p:txBody>
          <a:bodyPr wrap="square" lIns="0" tIns="0" rIns="0" bIns="0" rtlCol="0" anchor="ctr"/>
          <a:lstStyle/>
          <a:p>
            <a:pPr algn="r" indent="0" marL="0">
              <a:buNone/>
            </a:pPr>
            <a:r>
              <a:rPr lang="en-US" sz="1600" i="1" dirty="0">
                <a:solidFill>
                  <a:srgbClr val="00C9A7"/>
                </a:solidFill>
                <a:latin typeface="Calibri" pitchFamily="34" charset="0"/>
                <a:ea typeface="Calibri" pitchFamily="34" charset="-122"/>
                <a:cs typeface="Calibri" pitchFamily="34" charset="-120"/>
              </a:rPr>
              <a:t>The Impressive Stuff</a:t>
            </a:r>
            <a:endParaRPr lang="en-US" sz="1600" dirty="0"/>
          </a:p>
        </p:txBody>
      </p:sp>
      <p:pic>
        <p:nvPicPr>
          <p:cNvPr id="4" name="Image 0" descr="preencoded.png">    </p:cNvPr>
          <p:cNvPicPr>
            <a:picLocks noChangeAspect="1"/>
          </p:cNvPicPr>
          <p:nvPr/>
        </p:nvPicPr>
        <p:blipFill>
          <a:blip r:embed="rId1"/>
          <a:stretch>
            <a:fillRect/>
          </a:stretch>
        </p:blipFill>
        <p:spPr>
          <a:xfrm>
            <a:off x="777240" y="1280160"/>
            <a:ext cx="365760" cy="365760"/>
          </a:xfrm>
          <a:prstGeom prst="rect">
            <a:avLst/>
          </a:prstGeom>
        </p:spPr>
      </p:pic>
      <p:sp>
        <p:nvSpPr>
          <p:cNvPr id="5" name="Text 2"/>
          <p:cNvSpPr/>
          <p:nvPr/>
        </p:nvSpPr>
        <p:spPr>
          <a:xfrm>
            <a:off x="1280160" y="1188720"/>
            <a:ext cx="32004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Pass medical licensing exams and bar exams</a:t>
            </a:r>
            <a:endParaRPr lang="en-US" sz="1300" dirty="0"/>
          </a:p>
        </p:txBody>
      </p:sp>
      <p:sp>
        <p:nvSpPr>
          <p:cNvPr id="6" name="Text 3"/>
          <p:cNvSpPr/>
          <p:nvPr/>
        </p:nvSpPr>
        <p:spPr>
          <a:xfrm>
            <a:off x="1280160" y="1527048"/>
            <a:ext cx="32004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Top-tier performance on professional qualification tests</a:t>
            </a:r>
            <a:endParaRPr lang="en-US" sz="1100" dirty="0"/>
          </a:p>
        </p:txBody>
      </p:sp>
      <p:pic>
        <p:nvPicPr>
          <p:cNvPr id="7" name="Image 1" descr="preencoded.png">    </p:cNvPr>
          <p:cNvPicPr>
            <a:picLocks noChangeAspect="1"/>
          </p:cNvPicPr>
          <p:nvPr/>
        </p:nvPicPr>
        <p:blipFill>
          <a:blip r:embed="rId2"/>
          <a:stretch>
            <a:fillRect/>
          </a:stretch>
        </p:blipFill>
        <p:spPr>
          <a:xfrm>
            <a:off x="4846320" y="1280160"/>
            <a:ext cx="365760" cy="365760"/>
          </a:xfrm>
          <a:prstGeom prst="rect">
            <a:avLst/>
          </a:prstGeom>
        </p:spPr>
      </p:pic>
      <p:sp>
        <p:nvSpPr>
          <p:cNvPr id="8" name="Text 4"/>
          <p:cNvSpPr/>
          <p:nvPr/>
        </p:nvSpPr>
        <p:spPr>
          <a:xfrm>
            <a:off x="5349240" y="1188720"/>
            <a:ext cx="32004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Summarise a 100-page document in 30 seconds</a:t>
            </a:r>
            <a:endParaRPr lang="en-US" sz="1300" dirty="0"/>
          </a:p>
        </p:txBody>
      </p:sp>
      <p:sp>
        <p:nvSpPr>
          <p:cNvPr id="9" name="Text 5"/>
          <p:cNvSpPr/>
          <p:nvPr/>
        </p:nvSpPr>
        <p:spPr>
          <a:xfrm>
            <a:off x="5349240" y="1527048"/>
            <a:ext cx="32004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Extract key points from contracts, reports, RFPs</a:t>
            </a:r>
            <a:endParaRPr lang="en-US" sz="1100" dirty="0"/>
          </a:p>
        </p:txBody>
      </p:sp>
      <p:pic>
        <p:nvPicPr>
          <p:cNvPr id="10" name="Image 2" descr="preencoded.png">    </p:cNvPr>
          <p:cNvPicPr>
            <a:picLocks noChangeAspect="1"/>
          </p:cNvPicPr>
          <p:nvPr/>
        </p:nvPicPr>
        <p:blipFill>
          <a:blip r:embed="rId3"/>
          <a:stretch>
            <a:fillRect/>
          </a:stretch>
        </p:blipFill>
        <p:spPr>
          <a:xfrm>
            <a:off x="777240" y="2468880"/>
            <a:ext cx="365760" cy="365760"/>
          </a:xfrm>
          <a:prstGeom prst="rect">
            <a:avLst/>
          </a:prstGeom>
        </p:spPr>
      </p:pic>
      <p:sp>
        <p:nvSpPr>
          <p:cNvPr id="11" name="Text 6"/>
          <p:cNvSpPr/>
          <p:nvPr/>
        </p:nvSpPr>
        <p:spPr>
          <a:xfrm>
            <a:off x="1280160" y="2377440"/>
            <a:ext cx="32004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Draft emails, proposals, and reports</a:t>
            </a:r>
            <a:endParaRPr lang="en-US" sz="1300" dirty="0"/>
          </a:p>
        </p:txBody>
      </p:sp>
      <p:sp>
        <p:nvSpPr>
          <p:cNvPr id="12" name="Text 7"/>
          <p:cNvSpPr/>
          <p:nvPr/>
        </p:nvSpPr>
        <p:spPr>
          <a:xfrm>
            <a:off x="1280160" y="2715768"/>
            <a:ext cx="32004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First drafts in seconds that you refine and send</a:t>
            </a:r>
            <a:endParaRPr lang="en-US" sz="1100" dirty="0"/>
          </a:p>
        </p:txBody>
      </p:sp>
      <p:pic>
        <p:nvPicPr>
          <p:cNvPr id="13" name="Image 3" descr="preencoded.png">    </p:cNvPr>
          <p:cNvPicPr>
            <a:picLocks noChangeAspect="1"/>
          </p:cNvPicPr>
          <p:nvPr/>
        </p:nvPicPr>
        <p:blipFill>
          <a:blip r:embed="rId4"/>
          <a:stretch>
            <a:fillRect/>
          </a:stretch>
        </p:blipFill>
        <p:spPr>
          <a:xfrm>
            <a:off x="4846320" y="2468880"/>
            <a:ext cx="365760" cy="365760"/>
          </a:xfrm>
          <a:prstGeom prst="rect">
            <a:avLst/>
          </a:prstGeom>
        </p:spPr>
      </p:pic>
      <p:sp>
        <p:nvSpPr>
          <p:cNvPr id="14" name="Text 8"/>
          <p:cNvSpPr/>
          <p:nvPr/>
        </p:nvSpPr>
        <p:spPr>
          <a:xfrm>
            <a:off x="5349240" y="2377440"/>
            <a:ext cx="32004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Translate between 50+ languages fluently</a:t>
            </a:r>
            <a:endParaRPr lang="en-US" sz="1300" dirty="0"/>
          </a:p>
        </p:txBody>
      </p:sp>
      <p:sp>
        <p:nvSpPr>
          <p:cNvPr id="15" name="Text 9"/>
          <p:cNvSpPr/>
          <p:nvPr/>
        </p:nvSpPr>
        <p:spPr>
          <a:xfrm>
            <a:off x="5349240" y="2715768"/>
            <a:ext cx="32004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Not just words — captures context and tone</a:t>
            </a:r>
            <a:endParaRPr lang="en-US" sz="1100" dirty="0"/>
          </a:p>
        </p:txBody>
      </p:sp>
      <p:pic>
        <p:nvPicPr>
          <p:cNvPr id="16" name="Image 4" descr="preencoded.png">    </p:cNvPr>
          <p:cNvPicPr>
            <a:picLocks noChangeAspect="1"/>
          </p:cNvPicPr>
          <p:nvPr/>
        </p:nvPicPr>
        <p:blipFill>
          <a:blip r:embed="rId5"/>
          <a:stretch>
            <a:fillRect/>
          </a:stretch>
        </p:blipFill>
        <p:spPr>
          <a:xfrm>
            <a:off x="777240" y="3657600"/>
            <a:ext cx="365760" cy="365760"/>
          </a:xfrm>
          <a:prstGeom prst="rect">
            <a:avLst/>
          </a:prstGeom>
        </p:spPr>
      </p:pic>
      <p:sp>
        <p:nvSpPr>
          <p:cNvPr id="17" name="Text 10"/>
          <p:cNvSpPr/>
          <p:nvPr/>
        </p:nvSpPr>
        <p:spPr>
          <a:xfrm>
            <a:off x="1280160" y="3566160"/>
            <a:ext cx="32004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Analyse data and spot patterns</a:t>
            </a:r>
            <a:endParaRPr lang="en-US" sz="1300" dirty="0"/>
          </a:p>
        </p:txBody>
      </p:sp>
      <p:sp>
        <p:nvSpPr>
          <p:cNvPr id="18" name="Text 11"/>
          <p:cNvSpPr/>
          <p:nvPr/>
        </p:nvSpPr>
        <p:spPr>
          <a:xfrm>
            <a:off x="1280160" y="3904488"/>
            <a:ext cx="32004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Feed it a spreadsheet, ask questions in plain English</a:t>
            </a:r>
            <a:endParaRPr lang="en-US" sz="1100" dirty="0"/>
          </a:p>
        </p:txBody>
      </p:sp>
      <p:pic>
        <p:nvPicPr>
          <p:cNvPr id="19" name="Image 5" descr="preencoded.png">    </p:cNvPr>
          <p:cNvPicPr>
            <a:picLocks noChangeAspect="1"/>
          </p:cNvPicPr>
          <p:nvPr/>
        </p:nvPicPr>
        <p:blipFill>
          <a:blip r:embed="rId6"/>
          <a:stretch>
            <a:fillRect/>
          </a:stretch>
        </p:blipFill>
        <p:spPr>
          <a:xfrm>
            <a:off x="4846320" y="3657600"/>
            <a:ext cx="365760" cy="365760"/>
          </a:xfrm>
          <a:prstGeom prst="rect">
            <a:avLst/>
          </a:prstGeom>
        </p:spPr>
      </p:pic>
      <p:sp>
        <p:nvSpPr>
          <p:cNvPr id="20" name="Text 12"/>
          <p:cNvSpPr/>
          <p:nvPr/>
        </p:nvSpPr>
        <p:spPr>
          <a:xfrm>
            <a:off x="5349240" y="3566160"/>
            <a:ext cx="3200400" cy="32004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Write and debug computer code</a:t>
            </a:r>
            <a:endParaRPr lang="en-US" sz="1300" dirty="0"/>
          </a:p>
        </p:txBody>
      </p:sp>
      <p:sp>
        <p:nvSpPr>
          <p:cNvPr id="21" name="Text 13"/>
          <p:cNvSpPr/>
          <p:nvPr/>
        </p:nvSpPr>
        <p:spPr>
          <a:xfrm>
            <a:off x="5349240" y="3904488"/>
            <a:ext cx="320040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From simple scripts to complex applications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640080" y="274320"/>
            <a:ext cx="77724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Jagged Intelligence</a:t>
            </a:r>
            <a:endParaRPr lang="en-US" sz="3200" dirty="0"/>
          </a:p>
        </p:txBody>
      </p:sp>
      <p:sp>
        <p:nvSpPr>
          <p:cNvPr id="3" name="Text 1"/>
          <p:cNvSpPr/>
          <p:nvPr/>
        </p:nvSpPr>
        <p:spPr>
          <a:xfrm>
            <a:off x="640080" y="822960"/>
            <a:ext cx="7772400" cy="365760"/>
          </a:xfrm>
          <a:prstGeom prst="rect">
            <a:avLst/>
          </a:prstGeom>
          <a:noFill/>
          <a:ln/>
        </p:spPr>
        <p:txBody>
          <a:bodyPr wrap="square" lIns="0" tIns="0" rIns="0" bIns="0" rtlCol="0" anchor="ctr"/>
          <a:lstStyle/>
          <a:p>
            <a:pPr indent="0" marL="0">
              <a:buNone/>
            </a:pPr>
            <a:r>
              <a:rPr lang="en-US" sz="1500" i="1" dirty="0">
                <a:solidFill>
                  <a:srgbClr val="00C9A7"/>
                </a:solidFill>
                <a:latin typeface="Calibri" pitchFamily="34" charset="0"/>
                <a:ea typeface="Calibri" pitchFamily="34" charset="-122"/>
                <a:cs typeface="Calibri" pitchFamily="34" charset="-120"/>
              </a:rPr>
              <a:t>AI can ace a bar exam but fail at counting letters.</a:t>
            </a:r>
            <a:endParaRPr lang="en-US" sz="1500" dirty="0"/>
          </a:p>
        </p:txBody>
      </p:sp>
      <p:sp>
        <p:nvSpPr>
          <p:cNvPr id="4" name="Shape 2"/>
          <p:cNvSpPr/>
          <p:nvPr/>
        </p:nvSpPr>
        <p:spPr>
          <a:xfrm>
            <a:off x="822960" y="1645920"/>
            <a:ext cx="1051560" cy="2103120"/>
          </a:xfrm>
          <a:prstGeom prst="rect">
            <a:avLst/>
          </a:prstGeom>
          <a:solidFill>
            <a:srgbClr val="00C9A7">
              <a:alpha val="85000"/>
            </a:srgbClr>
          </a:solidFill>
          <a:ln/>
        </p:spPr>
      </p:sp>
      <p:sp>
        <p:nvSpPr>
          <p:cNvPr id="5" name="Text 3"/>
          <p:cNvSpPr/>
          <p:nvPr/>
        </p:nvSpPr>
        <p:spPr>
          <a:xfrm>
            <a:off x="822960" y="1371600"/>
            <a:ext cx="1051560" cy="274320"/>
          </a:xfrm>
          <a:prstGeom prst="rect">
            <a:avLst/>
          </a:prstGeom>
          <a:noFill/>
          <a:ln/>
        </p:spPr>
        <p:txBody>
          <a:bodyPr wrap="square" lIns="0" tIns="0" rIns="0" bIns="0" rtlCol="0" anchor="b"/>
          <a:lstStyle/>
          <a:p>
            <a:pPr algn="ctr" indent="0" marL="0">
              <a:buNone/>
            </a:pPr>
            <a:r>
              <a:rPr lang="en-US" sz="1200" b="1" dirty="0">
                <a:solidFill>
                  <a:srgbClr val="00C9A7"/>
                </a:solidFill>
                <a:latin typeface="Calibri" pitchFamily="34" charset="0"/>
                <a:ea typeface="Calibri" pitchFamily="34" charset="-122"/>
                <a:cs typeface="Calibri" pitchFamily="34" charset="-120"/>
              </a:rPr>
              <a:t>92%</a:t>
            </a:r>
            <a:endParaRPr lang="en-US" sz="1200" dirty="0"/>
          </a:p>
        </p:txBody>
      </p:sp>
      <p:sp>
        <p:nvSpPr>
          <p:cNvPr id="6" name="Text 4"/>
          <p:cNvSpPr/>
          <p:nvPr/>
        </p:nvSpPr>
        <p:spPr>
          <a:xfrm>
            <a:off x="822960" y="3840480"/>
            <a:ext cx="105156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Legal</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Reasoning</a:t>
            </a:r>
            <a:endParaRPr lang="en-US" sz="1000" dirty="0"/>
          </a:p>
        </p:txBody>
      </p:sp>
      <p:sp>
        <p:nvSpPr>
          <p:cNvPr id="7" name="Shape 5"/>
          <p:cNvSpPr/>
          <p:nvPr/>
        </p:nvSpPr>
        <p:spPr>
          <a:xfrm>
            <a:off x="2194560" y="3177540"/>
            <a:ext cx="1051560" cy="571500"/>
          </a:xfrm>
          <a:prstGeom prst="rect">
            <a:avLst/>
          </a:prstGeom>
          <a:solidFill>
            <a:srgbClr val="FF6B6B">
              <a:alpha val="85000"/>
            </a:srgbClr>
          </a:solidFill>
          <a:ln/>
        </p:spPr>
      </p:sp>
      <p:sp>
        <p:nvSpPr>
          <p:cNvPr id="8" name="Text 6"/>
          <p:cNvSpPr/>
          <p:nvPr/>
        </p:nvSpPr>
        <p:spPr>
          <a:xfrm>
            <a:off x="2194560" y="2903220"/>
            <a:ext cx="1051560" cy="274320"/>
          </a:xfrm>
          <a:prstGeom prst="rect">
            <a:avLst/>
          </a:prstGeom>
          <a:noFill/>
          <a:ln/>
        </p:spPr>
        <p:txBody>
          <a:bodyPr wrap="square" lIns="0" tIns="0" rIns="0" bIns="0" rtlCol="0" anchor="b"/>
          <a:lstStyle/>
          <a:p>
            <a:pPr algn="ctr" indent="0" marL="0">
              <a:buNone/>
            </a:pPr>
            <a:r>
              <a:rPr lang="en-US" sz="1200" b="1" dirty="0">
                <a:solidFill>
                  <a:srgbClr val="FF6B6B"/>
                </a:solidFill>
                <a:latin typeface="Calibri" pitchFamily="34" charset="0"/>
                <a:ea typeface="Calibri" pitchFamily="34" charset="-122"/>
                <a:cs typeface="Calibri" pitchFamily="34" charset="-120"/>
              </a:rPr>
              <a:t>25%</a:t>
            </a:r>
            <a:endParaRPr lang="en-US" sz="1200" dirty="0"/>
          </a:p>
        </p:txBody>
      </p:sp>
      <p:sp>
        <p:nvSpPr>
          <p:cNvPr id="9" name="Text 7"/>
          <p:cNvSpPr/>
          <p:nvPr/>
        </p:nvSpPr>
        <p:spPr>
          <a:xfrm>
            <a:off x="2194560" y="3840480"/>
            <a:ext cx="105156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Count R's in</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'Strawberry'</a:t>
            </a:r>
            <a:endParaRPr lang="en-US" sz="1000" dirty="0"/>
          </a:p>
        </p:txBody>
      </p:sp>
      <p:sp>
        <p:nvSpPr>
          <p:cNvPr id="10" name="Shape 8"/>
          <p:cNvSpPr/>
          <p:nvPr/>
        </p:nvSpPr>
        <p:spPr>
          <a:xfrm>
            <a:off x="3566160" y="1737360"/>
            <a:ext cx="1051560" cy="2011680"/>
          </a:xfrm>
          <a:prstGeom prst="rect">
            <a:avLst/>
          </a:prstGeom>
          <a:solidFill>
            <a:srgbClr val="00C9A7">
              <a:alpha val="85000"/>
            </a:srgbClr>
          </a:solidFill>
          <a:ln/>
        </p:spPr>
      </p:sp>
      <p:sp>
        <p:nvSpPr>
          <p:cNvPr id="11" name="Text 9"/>
          <p:cNvSpPr/>
          <p:nvPr/>
        </p:nvSpPr>
        <p:spPr>
          <a:xfrm>
            <a:off x="3566160" y="1463040"/>
            <a:ext cx="1051560" cy="274320"/>
          </a:xfrm>
          <a:prstGeom prst="rect">
            <a:avLst/>
          </a:prstGeom>
          <a:noFill/>
          <a:ln/>
        </p:spPr>
        <p:txBody>
          <a:bodyPr wrap="square" lIns="0" tIns="0" rIns="0" bIns="0" rtlCol="0" anchor="b"/>
          <a:lstStyle/>
          <a:p>
            <a:pPr algn="ctr" indent="0" marL="0">
              <a:buNone/>
            </a:pPr>
            <a:r>
              <a:rPr lang="en-US" sz="1200" b="1" dirty="0">
                <a:solidFill>
                  <a:srgbClr val="00C9A7"/>
                </a:solidFill>
                <a:latin typeface="Calibri" pitchFamily="34" charset="0"/>
                <a:ea typeface="Calibri" pitchFamily="34" charset="-122"/>
                <a:cs typeface="Calibri" pitchFamily="34" charset="-120"/>
              </a:rPr>
              <a:t>88%</a:t>
            </a:r>
            <a:endParaRPr lang="en-US" sz="1200" dirty="0"/>
          </a:p>
        </p:txBody>
      </p:sp>
      <p:sp>
        <p:nvSpPr>
          <p:cNvPr id="12" name="Text 10"/>
          <p:cNvSpPr/>
          <p:nvPr/>
        </p:nvSpPr>
        <p:spPr>
          <a:xfrm>
            <a:off x="3566160" y="3840480"/>
            <a:ext cx="105156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Code</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Generation</a:t>
            </a:r>
            <a:endParaRPr lang="en-US" sz="1000" dirty="0"/>
          </a:p>
        </p:txBody>
      </p:sp>
      <p:sp>
        <p:nvSpPr>
          <p:cNvPr id="13" name="Shape 11"/>
          <p:cNvSpPr/>
          <p:nvPr/>
        </p:nvSpPr>
        <p:spPr>
          <a:xfrm>
            <a:off x="4937760" y="2834640"/>
            <a:ext cx="1051560" cy="914400"/>
          </a:xfrm>
          <a:prstGeom prst="rect">
            <a:avLst/>
          </a:prstGeom>
          <a:solidFill>
            <a:srgbClr val="FFAA33">
              <a:alpha val="85000"/>
            </a:srgbClr>
          </a:solidFill>
          <a:ln/>
        </p:spPr>
      </p:sp>
      <p:sp>
        <p:nvSpPr>
          <p:cNvPr id="14" name="Text 12"/>
          <p:cNvSpPr/>
          <p:nvPr/>
        </p:nvSpPr>
        <p:spPr>
          <a:xfrm>
            <a:off x="4937760" y="2560320"/>
            <a:ext cx="1051560" cy="274320"/>
          </a:xfrm>
          <a:prstGeom prst="rect">
            <a:avLst/>
          </a:prstGeom>
          <a:noFill/>
          <a:ln/>
        </p:spPr>
        <p:txBody>
          <a:bodyPr wrap="square" lIns="0" tIns="0" rIns="0" bIns="0" rtlCol="0" anchor="b"/>
          <a:lstStyle/>
          <a:p>
            <a:pPr algn="ctr" indent="0" marL="0">
              <a:buNone/>
            </a:pPr>
            <a:r>
              <a:rPr lang="en-US" sz="1200" b="1" dirty="0">
                <a:solidFill>
                  <a:srgbClr val="FFAA33"/>
                </a:solidFill>
                <a:latin typeface="Calibri" pitchFamily="34" charset="0"/>
                <a:ea typeface="Calibri" pitchFamily="34" charset="-122"/>
                <a:cs typeface="Calibri" pitchFamily="34" charset="-120"/>
              </a:rPr>
              <a:t>40%</a:t>
            </a:r>
            <a:endParaRPr lang="en-US" sz="1200" dirty="0"/>
          </a:p>
        </p:txBody>
      </p:sp>
      <p:sp>
        <p:nvSpPr>
          <p:cNvPr id="15" name="Text 13"/>
          <p:cNvSpPr/>
          <p:nvPr/>
        </p:nvSpPr>
        <p:spPr>
          <a:xfrm>
            <a:off x="4937760" y="3840480"/>
            <a:ext cx="105156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Simple</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Arithmetic</a:t>
            </a:r>
            <a:endParaRPr lang="en-US" sz="1000" dirty="0"/>
          </a:p>
        </p:txBody>
      </p:sp>
      <p:sp>
        <p:nvSpPr>
          <p:cNvPr id="16" name="Shape 14"/>
          <p:cNvSpPr/>
          <p:nvPr/>
        </p:nvSpPr>
        <p:spPr>
          <a:xfrm>
            <a:off x="6309360" y="1805940"/>
            <a:ext cx="1051560" cy="1943100"/>
          </a:xfrm>
          <a:prstGeom prst="rect">
            <a:avLst/>
          </a:prstGeom>
          <a:solidFill>
            <a:srgbClr val="00C9A7">
              <a:alpha val="85000"/>
            </a:srgbClr>
          </a:solidFill>
          <a:ln/>
        </p:spPr>
      </p:sp>
      <p:sp>
        <p:nvSpPr>
          <p:cNvPr id="17" name="Text 15"/>
          <p:cNvSpPr/>
          <p:nvPr/>
        </p:nvSpPr>
        <p:spPr>
          <a:xfrm>
            <a:off x="6309360" y="1531620"/>
            <a:ext cx="1051560" cy="274320"/>
          </a:xfrm>
          <a:prstGeom prst="rect">
            <a:avLst/>
          </a:prstGeom>
          <a:noFill/>
          <a:ln/>
        </p:spPr>
        <p:txBody>
          <a:bodyPr wrap="square" lIns="0" tIns="0" rIns="0" bIns="0" rtlCol="0" anchor="b"/>
          <a:lstStyle/>
          <a:p>
            <a:pPr algn="ctr" indent="0" marL="0">
              <a:buNone/>
            </a:pPr>
            <a:r>
              <a:rPr lang="en-US" sz="1200" b="1" dirty="0">
                <a:solidFill>
                  <a:srgbClr val="00C9A7"/>
                </a:solidFill>
                <a:latin typeface="Calibri" pitchFamily="34" charset="0"/>
                <a:ea typeface="Calibri" pitchFamily="34" charset="-122"/>
                <a:cs typeface="Calibri" pitchFamily="34" charset="-120"/>
              </a:rPr>
              <a:t>85%</a:t>
            </a:r>
            <a:endParaRPr lang="en-US" sz="1200" dirty="0"/>
          </a:p>
        </p:txBody>
      </p:sp>
      <p:sp>
        <p:nvSpPr>
          <p:cNvPr id="18" name="Text 16"/>
          <p:cNvSpPr/>
          <p:nvPr/>
        </p:nvSpPr>
        <p:spPr>
          <a:xfrm>
            <a:off x="6309360" y="3840480"/>
            <a:ext cx="105156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Creative</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Writing</a:t>
            </a:r>
            <a:endParaRPr lang="en-US" sz="1000" dirty="0"/>
          </a:p>
        </p:txBody>
      </p:sp>
      <p:sp>
        <p:nvSpPr>
          <p:cNvPr id="19" name="Shape 17"/>
          <p:cNvSpPr/>
          <p:nvPr/>
        </p:nvSpPr>
        <p:spPr>
          <a:xfrm>
            <a:off x="7680960" y="3063240"/>
            <a:ext cx="1051560" cy="685800"/>
          </a:xfrm>
          <a:prstGeom prst="rect">
            <a:avLst/>
          </a:prstGeom>
          <a:solidFill>
            <a:srgbClr val="FF6B6B">
              <a:alpha val="85000"/>
            </a:srgbClr>
          </a:solidFill>
          <a:ln/>
        </p:spPr>
      </p:sp>
      <p:sp>
        <p:nvSpPr>
          <p:cNvPr id="20" name="Text 18"/>
          <p:cNvSpPr/>
          <p:nvPr/>
        </p:nvSpPr>
        <p:spPr>
          <a:xfrm>
            <a:off x="7680960" y="2788920"/>
            <a:ext cx="1051560" cy="274320"/>
          </a:xfrm>
          <a:prstGeom prst="rect">
            <a:avLst/>
          </a:prstGeom>
          <a:noFill/>
          <a:ln/>
        </p:spPr>
        <p:txBody>
          <a:bodyPr wrap="square" lIns="0" tIns="0" rIns="0" bIns="0" rtlCol="0" anchor="b"/>
          <a:lstStyle/>
          <a:p>
            <a:pPr algn="ctr" indent="0" marL="0">
              <a:buNone/>
            </a:pPr>
            <a:r>
              <a:rPr lang="en-US" sz="1200" b="1" dirty="0">
                <a:solidFill>
                  <a:srgbClr val="FF6B6B"/>
                </a:solidFill>
                <a:latin typeface="Calibri" pitchFamily="34" charset="0"/>
                <a:ea typeface="Calibri" pitchFamily="34" charset="-122"/>
                <a:cs typeface="Calibri" pitchFamily="34" charset="-120"/>
              </a:rPr>
              <a:t>30%</a:t>
            </a:r>
            <a:endParaRPr lang="en-US" sz="1200" dirty="0"/>
          </a:p>
        </p:txBody>
      </p:sp>
      <p:sp>
        <p:nvSpPr>
          <p:cNvPr id="21" name="Text 19"/>
          <p:cNvSpPr/>
          <p:nvPr/>
        </p:nvSpPr>
        <p:spPr>
          <a:xfrm>
            <a:off x="7680960" y="3840480"/>
            <a:ext cx="1051560" cy="502920"/>
          </a:xfrm>
          <a:prstGeom prst="rect">
            <a:avLst/>
          </a:prstGeom>
          <a:noFill/>
          <a:ln/>
        </p:spPr>
        <p:txBody>
          <a:bodyPr wrap="square" lIns="0" tIns="0" rIns="0" bIns="0" rtlCol="0" anchor="t"/>
          <a:lstStyle/>
          <a:p>
            <a:pPr algn="ctr" indent="0" marL="0">
              <a:buNone/>
            </a:pPr>
            <a:r>
              <a:rPr lang="en-US" sz="1000" dirty="0">
                <a:solidFill>
                  <a:srgbClr val="94A3B8"/>
                </a:solidFill>
                <a:latin typeface="Calibri" pitchFamily="34" charset="0"/>
                <a:ea typeface="Calibri" pitchFamily="34" charset="-122"/>
                <a:cs typeface="Calibri" pitchFamily="34" charset="-120"/>
              </a:rPr>
              <a:t>Spatial</a:t>
            </a:r>
            <a:endParaRPr lang="en-US" sz="1000" dirty="0"/>
          </a:p>
          <a:p>
            <a:pPr algn="ctr" indent="0" marL="0">
              <a:buNone/>
            </a:pPr>
            <a:r>
              <a:rPr lang="en-US" sz="1000" dirty="0">
                <a:solidFill>
                  <a:srgbClr val="94A3B8"/>
                </a:solidFill>
                <a:latin typeface="Calibri" pitchFamily="34" charset="0"/>
                <a:ea typeface="Calibri" pitchFamily="34" charset="-122"/>
                <a:cs typeface="Calibri" pitchFamily="34" charset="-120"/>
              </a:rPr>
              <a:t>Reasoning</a:t>
            </a:r>
            <a:endParaRPr lang="en-US" sz="1000" dirty="0"/>
          </a:p>
        </p:txBody>
      </p:sp>
      <p:sp>
        <p:nvSpPr>
          <p:cNvPr id="22" name="Shape 20"/>
          <p:cNvSpPr/>
          <p:nvPr/>
        </p:nvSpPr>
        <p:spPr>
          <a:xfrm>
            <a:off x="640080" y="4434840"/>
            <a:ext cx="7863840" cy="502920"/>
          </a:xfrm>
          <a:prstGeom prst="rect">
            <a:avLst/>
          </a:prstGeom>
          <a:solidFill>
            <a:srgbClr val="151E2F"/>
          </a:solidFill>
          <a:ln w="12700">
            <a:solidFill>
              <a:srgbClr val="FFAA33"/>
            </a:solidFill>
            <a:prstDash val="solid"/>
          </a:ln>
        </p:spPr>
      </p:sp>
      <p:sp>
        <p:nvSpPr>
          <p:cNvPr id="23" name="Text 21"/>
          <p:cNvSpPr/>
          <p:nvPr/>
        </p:nvSpPr>
        <p:spPr>
          <a:xfrm>
            <a:off x="822960" y="4434840"/>
            <a:ext cx="7498080" cy="502920"/>
          </a:xfrm>
          <a:prstGeom prst="rect">
            <a:avLst/>
          </a:prstGeom>
          <a:noFill/>
          <a:ln/>
        </p:spPr>
        <p:txBody>
          <a:bodyPr wrap="square" lIns="0" tIns="0" rIns="0" bIns="0" rtlCol="0" anchor="ctr"/>
          <a:lstStyle/>
          <a:p>
            <a:pPr algn="ctr" indent="0" marL="0">
              <a:buNone/>
            </a:pPr>
            <a:r>
              <a:rPr lang="en-US" sz="1300" dirty="0">
                <a:solidFill>
                  <a:srgbClr val="FFAA33"/>
                </a:solidFill>
                <a:latin typeface="Calibri" pitchFamily="34" charset="0"/>
                <a:ea typeface="Calibri" pitchFamily="34" charset="-122"/>
                <a:cs typeface="Calibri" pitchFamily="34" charset="-120"/>
              </a:rPr>
              <a:t>The capability frontier is jagged, not uniform. Never assume competence in one area means competence in all.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40080" y="320040"/>
            <a:ext cx="7772400" cy="640080"/>
          </a:xfrm>
          <a:prstGeom prst="rect">
            <a:avLst/>
          </a:prstGeom>
          <a:noFill/>
          <a:ln/>
        </p:spPr>
        <p:txBody>
          <a:bodyPr wrap="square" lIns="0" tIns="0" rIns="0" bIns="0"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AI's Blind Spots</a:t>
            </a:r>
            <a:endParaRPr lang="en-US" sz="3200" dirty="0"/>
          </a:p>
        </p:txBody>
      </p:sp>
      <p:sp>
        <p:nvSpPr>
          <p:cNvPr id="3" name="Shape 1"/>
          <p:cNvSpPr/>
          <p:nvPr/>
        </p:nvSpPr>
        <p:spPr>
          <a:xfrm>
            <a:off x="640080" y="1097280"/>
            <a:ext cx="73152" cy="731520"/>
          </a:xfrm>
          <a:prstGeom prst="rect">
            <a:avLst/>
          </a:prstGeom>
          <a:solidFill>
            <a:srgbClr val="FF6B6B"/>
          </a:solidFill>
          <a:ln/>
        </p:spPr>
      </p:sp>
      <p:sp>
        <p:nvSpPr>
          <p:cNvPr id="4" name="Shape 2"/>
          <p:cNvSpPr/>
          <p:nvPr/>
        </p:nvSpPr>
        <p:spPr>
          <a:xfrm>
            <a:off x="713232" y="1097280"/>
            <a:ext cx="7790688" cy="731520"/>
          </a:xfrm>
          <a:prstGeom prst="rect">
            <a:avLst/>
          </a:prstGeom>
          <a:solidFill>
            <a:srgbClr val="FFFFFF"/>
          </a:solidFill>
          <a:ln/>
          <a:effectLst>
            <a:outerShdw sx="100000" sy="100000" kx="0" ky="0" algn="bl" rotWithShape="0" blurRad="38100" dist="12700" dir="8100000">
              <a:srgbClr val="000000">
                <a:alpha val="6000"/>
              </a:srgbClr>
            </a:outerShdw>
          </a:effectLst>
        </p:spPr>
      </p:sp>
      <p:pic>
        <p:nvPicPr>
          <p:cNvPr id="5" name="Image 0" descr="preencoded.png">    </p:cNvPr>
          <p:cNvPicPr>
            <a:picLocks noChangeAspect="1"/>
          </p:cNvPicPr>
          <p:nvPr/>
        </p:nvPicPr>
        <p:blipFill>
          <a:blip r:embed="rId1"/>
          <a:stretch>
            <a:fillRect/>
          </a:stretch>
        </p:blipFill>
        <p:spPr>
          <a:xfrm>
            <a:off x="914400" y="1234440"/>
            <a:ext cx="411480" cy="411480"/>
          </a:xfrm>
          <a:prstGeom prst="rect">
            <a:avLst/>
          </a:prstGeom>
        </p:spPr>
      </p:pic>
      <p:sp>
        <p:nvSpPr>
          <p:cNvPr id="6" name="Text 3"/>
          <p:cNvSpPr/>
          <p:nvPr/>
        </p:nvSpPr>
        <p:spPr>
          <a:xfrm>
            <a:off x="1463040" y="1143000"/>
            <a:ext cx="676656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Hallucinations</a:t>
            </a:r>
            <a:endParaRPr lang="en-US" sz="1400" dirty="0"/>
          </a:p>
        </p:txBody>
      </p:sp>
      <p:sp>
        <p:nvSpPr>
          <p:cNvPr id="7" name="Text 4"/>
          <p:cNvSpPr/>
          <p:nvPr/>
        </p:nvSpPr>
        <p:spPr>
          <a:xfrm>
            <a:off x="1463040" y="1444752"/>
            <a:ext cx="676656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Confidently invents facts, citations, even case law that doesn't exist. It doesn't know what it doesn't know.</a:t>
            </a:r>
            <a:endParaRPr lang="en-US" sz="1100" dirty="0"/>
          </a:p>
        </p:txBody>
      </p:sp>
      <p:sp>
        <p:nvSpPr>
          <p:cNvPr id="8" name="Shape 5"/>
          <p:cNvSpPr/>
          <p:nvPr/>
        </p:nvSpPr>
        <p:spPr>
          <a:xfrm>
            <a:off x="640080" y="1965960"/>
            <a:ext cx="73152" cy="731520"/>
          </a:xfrm>
          <a:prstGeom prst="rect">
            <a:avLst/>
          </a:prstGeom>
          <a:solidFill>
            <a:srgbClr val="FFAA33"/>
          </a:solidFill>
          <a:ln/>
        </p:spPr>
      </p:sp>
      <p:sp>
        <p:nvSpPr>
          <p:cNvPr id="9" name="Shape 6"/>
          <p:cNvSpPr/>
          <p:nvPr/>
        </p:nvSpPr>
        <p:spPr>
          <a:xfrm>
            <a:off x="713232" y="1965960"/>
            <a:ext cx="7790688" cy="731520"/>
          </a:xfrm>
          <a:prstGeom prst="rect">
            <a:avLst/>
          </a:prstGeom>
          <a:solidFill>
            <a:srgbClr val="FFFFFF"/>
          </a:solidFill>
          <a:ln/>
          <a:effectLst>
            <a:outerShdw sx="100000" sy="100000" kx="0" ky="0" algn="bl" rotWithShape="0" blurRad="38100" dist="12700" dir="8100000">
              <a:srgbClr val="000000">
                <a:alpha val="6000"/>
              </a:srgbClr>
            </a:outerShdw>
          </a:effectLst>
        </p:spPr>
      </p:sp>
      <p:pic>
        <p:nvPicPr>
          <p:cNvPr id="10" name="Image 1" descr="preencoded.png">    </p:cNvPr>
          <p:cNvPicPr>
            <a:picLocks noChangeAspect="1"/>
          </p:cNvPicPr>
          <p:nvPr/>
        </p:nvPicPr>
        <p:blipFill>
          <a:blip r:embed="rId2"/>
          <a:stretch>
            <a:fillRect/>
          </a:stretch>
        </p:blipFill>
        <p:spPr>
          <a:xfrm>
            <a:off x="914400" y="2103120"/>
            <a:ext cx="411480" cy="411480"/>
          </a:xfrm>
          <a:prstGeom prst="rect">
            <a:avLst/>
          </a:prstGeom>
        </p:spPr>
      </p:pic>
      <p:sp>
        <p:nvSpPr>
          <p:cNvPr id="11" name="Text 7"/>
          <p:cNvSpPr/>
          <p:nvPr/>
        </p:nvSpPr>
        <p:spPr>
          <a:xfrm>
            <a:off x="1463040" y="2011680"/>
            <a:ext cx="676656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Training Data Gaps</a:t>
            </a:r>
            <a:endParaRPr lang="en-US" sz="1400" dirty="0"/>
          </a:p>
        </p:txBody>
      </p:sp>
      <p:sp>
        <p:nvSpPr>
          <p:cNvPr id="12" name="Text 8"/>
          <p:cNvSpPr/>
          <p:nvPr/>
        </p:nvSpPr>
        <p:spPr>
          <a:xfrm>
            <a:off x="1463040" y="2313432"/>
            <a:ext cx="676656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It learned from the internet — not from your industry manuals. Wire rope specs, rigging standards, product codes? Likely missing or wrong.</a:t>
            </a:r>
            <a:endParaRPr lang="en-US" sz="1100" dirty="0"/>
          </a:p>
        </p:txBody>
      </p:sp>
      <p:sp>
        <p:nvSpPr>
          <p:cNvPr id="13" name="Shape 9"/>
          <p:cNvSpPr/>
          <p:nvPr/>
        </p:nvSpPr>
        <p:spPr>
          <a:xfrm>
            <a:off x="640080" y="2834640"/>
            <a:ext cx="73152" cy="731520"/>
          </a:xfrm>
          <a:prstGeom prst="rect">
            <a:avLst/>
          </a:prstGeom>
          <a:solidFill>
            <a:srgbClr val="7C6BFF"/>
          </a:solidFill>
          <a:ln/>
        </p:spPr>
      </p:sp>
      <p:sp>
        <p:nvSpPr>
          <p:cNvPr id="14" name="Shape 10"/>
          <p:cNvSpPr/>
          <p:nvPr/>
        </p:nvSpPr>
        <p:spPr>
          <a:xfrm>
            <a:off x="713232" y="2834640"/>
            <a:ext cx="7790688" cy="731520"/>
          </a:xfrm>
          <a:prstGeom prst="rect">
            <a:avLst/>
          </a:prstGeom>
          <a:solidFill>
            <a:srgbClr val="FFFFFF"/>
          </a:solidFill>
          <a:ln/>
          <a:effectLst>
            <a:outerShdw sx="100000" sy="100000" kx="0" ky="0" algn="bl" rotWithShape="0" blurRad="38100" dist="12700" dir="8100000">
              <a:srgbClr val="000000">
                <a:alpha val="6000"/>
              </a:srgbClr>
            </a:outerShdw>
          </a:effectLst>
        </p:spPr>
      </p:sp>
      <p:pic>
        <p:nvPicPr>
          <p:cNvPr id="15" name="Image 2" descr="preencoded.png">    </p:cNvPr>
          <p:cNvPicPr>
            <a:picLocks noChangeAspect="1"/>
          </p:cNvPicPr>
          <p:nvPr/>
        </p:nvPicPr>
        <p:blipFill>
          <a:blip r:embed="rId3"/>
          <a:stretch>
            <a:fillRect/>
          </a:stretch>
        </p:blipFill>
        <p:spPr>
          <a:xfrm>
            <a:off x="914400" y="2971800"/>
            <a:ext cx="411480" cy="411480"/>
          </a:xfrm>
          <a:prstGeom prst="rect">
            <a:avLst/>
          </a:prstGeom>
        </p:spPr>
      </p:pic>
      <p:sp>
        <p:nvSpPr>
          <p:cNvPr id="16" name="Text 11"/>
          <p:cNvSpPr/>
          <p:nvPr/>
        </p:nvSpPr>
        <p:spPr>
          <a:xfrm>
            <a:off x="1463040" y="2880360"/>
            <a:ext cx="676656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Knowledge Cutoff</a:t>
            </a:r>
            <a:endParaRPr lang="en-US" sz="1400" dirty="0"/>
          </a:p>
        </p:txBody>
      </p:sp>
      <p:sp>
        <p:nvSpPr>
          <p:cNvPr id="17" name="Text 12"/>
          <p:cNvSpPr/>
          <p:nvPr/>
        </p:nvSpPr>
        <p:spPr>
          <a:xfrm>
            <a:off x="1463040" y="3182112"/>
            <a:ext cx="676656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Models have a training cutoff date. Without web search enabled, they don't know what happened yesterday.</a:t>
            </a:r>
            <a:endParaRPr lang="en-US" sz="1100" dirty="0"/>
          </a:p>
        </p:txBody>
      </p:sp>
      <p:sp>
        <p:nvSpPr>
          <p:cNvPr id="18" name="Shape 13"/>
          <p:cNvSpPr/>
          <p:nvPr/>
        </p:nvSpPr>
        <p:spPr>
          <a:xfrm>
            <a:off x="640080" y="3703320"/>
            <a:ext cx="73152" cy="731520"/>
          </a:xfrm>
          <a:prstGeom prst="rect">
            <a:avLst/>
          </a:prstGeom>
          <a:solidFill>
            <a:srgbClr val="475569"/>
          </a:solidFill>
          <a:ln/>
        </p:spPr>
      </p:sp>
      <p:sp>
        <p:nvSpPr>
          <p:cNvPr id="19" name="Shape 14"/>
          <p:cNvSpPr/>
          <p:nvPr/>
        </p:nvSpPr>
        <p:spPr>
          <a:xfrm>
            <a:off x="713232" y="3703320"/>
            <a:ext cx="7790688" cy="731520"/>
          </a:xfrm>
          <a:prstGeom prst="rect">
            <a:avLst/>
          </a:prstGeom>
          <a:solidFill>
            <a:srgbClr val="FFFFFF"/>
          </a:solidFill>
          <a:ln/>
          <a:effectLst>
            <a:outerShdw sx="100000" sy="100000" kx="0" ky="0" algn="bl" rotWithShape="0" blurRad="38100" dist="12700" dir="8100000">
              <a:srgbClr val="000000">
                <a:alpha val="6000"/>
              </a:srgbClr>
            </a:outerShdw>
          </a:effectLst>
        </p:spPr>
      </p:sp>
      <p:pic>
        <p:nvPicPr>
          <p:cNvPr id="20" name="Image 3" descr="preencoded.png">    </p:cNvPr>
          <p:cNvPicPr>
            <a:picLocks noChangeAspect="1"/>
          </p:cNvPicPr>
          <p:nvPr/>
        </p:nvPicPr>
        <p:blipFill>
          <a:blip r:embed="rId4"/>
          <a:stretch>
            <a:fillRect/>
          </a:stretch>
        </p:blipFill>
        <p:spPr>
          <a:xfrm>
            <a:off x="914400" y="3840480"/>
            <a:ext cx="411480" cy="411480"/>
          </a:xfrm>
          <a:prstGeom prst="rect">
            <a:avLst/>
          </a:prstGeom>
        </p:spPr>
      </p:pic>
      <p:sp>
        <p:nvSpPr>
          <p:cNvPr id="21" name="Text 15"/>
          <p:cNvSpPr/>
          <p:nvPr/>
        </p:nvSpPr>
        <p:spPr>
          <a:xfrm>
            <a:off x="1463040" y="3749040"/>
            <a:ext cx="6766560" cy="274320"/>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Bias &amp; Consensus Drift</a:t>
            </a:r>
            <a:endParaRPr lang="en-US" sz="1400" dirty="0"/>
          </a:p>
        </p:txBody>
      </p:sp>
      <p:sp>
        <p:nvSpPr>
          <p:cNvPr id="22" name="Text 16"/>
          <p:cNvSpPr/>
          <p:nvPr/>
        </p:nvSpPr>
        <p:spPr>
          <a:xfrm>
            <a:off x="1463040" y="4050792"/>
            <a:ext cx="6766560" cy="320040"/>
          </a:xfrm>
          <a:prstGeom prst="rect">
            <a:avLst/>
          </a:prstGeom>
          <a:noFill/>
          <a:ln/>
        </p:spPr>
        <p:txBody>
          <a:bodyPr wrap="square" lIns="0" tIns="0" rIns="0" bIns="0" rtlCol="0" anchor="ctr"/>
          <a:lstStyle/>
          <a:p>
            <a:pPr indent="0" marL="0">
              <a:buNone/>
            </a:pPr>
            <a:r>
              <a:rPr lang="en-US" sz="1100" dirty="0">
                <a:solidFill>
                  <a:srgbClr val="475569"/>
                </a:solidFill>
                <a:latin typeface="Calibri" pitchFamily="34" charset="0"/>
                <a:ea typeface="Calibri" pitchFamily="34" charset="-122"/>
                <a:cs typeface="Calibri" pitchFamily="34" charset="-120"/>
              </a:rPr>
              <a:t>Reflects biases in its training data. Tends toward the average internet opinion, not necessarily the expert one.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20"/>
        </a:solidFill>
      </p:bgPr>
    </p:bg>
    <p:spTree>
      <p:nvGrpSpPr>
        <p:cNvPr id="1" name=""/>
        <p:cNvGrpSpPr/>
        <p:nvPr/>
      </p:nvGrpSpPr>
      <p:grpSpPr>
        <a:xfrm>
          <a:off x="0" y="0"/>
          <a:ext cx="0" cy="0"/>
          <a:chOff x="0" y="0"/>
          <a:chExt cx="0" cy="0"/>
        </a:xfrm>
      </p:grpSpPr>
      <p:sp>
        <p:nvSpPr>
          <p:cNvPr id="2" name="Text 0"/>
          <p:cNvSpPr/>
          <p:nvPr/>
        </p:nvSpPr>
        <p:spPr>
          <a:xfrm>
            <a:off x="640080" y="548640"/>
            <a:ext cx="7772400" cy="731520"/>
          </a:xfrm>
          <a:prstGeom prst="rect">
            <a:avLst/>
          </a:prstGeom>
          <a:noFill/>
          <a:ln/>
        </p:spPr>
        <p:txBody>
          <a:bodyPr wrap="square" lIns="0" tIns="0" rIns="0" bIns="0" rtlCol="0" anchor="ctr"/>
          <a:lstStyle/>
          <a:p>
            <a:pPr algn="ctr" indent="0" marL="0">
              <a:buNone/>
            </a:pPr>
            <a:r>
              <a:rPr lang="en-US" sz="3800" b="1" dirty="0">
                <a:solidFill>
                  <a:srgbClr val="00C9A7"/>
                </a:solidFill>
                <a:latin typeface="Georgia" pitchFamily="34" charset="0"/>
                <a:ea typeface="Georgia" pitchFamily="34" charset="-122"/>
                <a:cs typeface="Georgia" pitchFamily="34" charset="-120"/>
              </a:rPr>
              <a:t>A Reasoning Engine</a:t>
            </a:r>
            <a:endParaRPr lang="en-US" sz="3800" dirty="0"/>
          </a:p>
        </p:txBody>
      </p:sp>
      <p:sp>
        <p:nvSpPr>
          <p:cNvPr id="3" name="Text 1"/>
          <p:cNvSpPr/>
          <p:nvPr/>
        </p:nvSpPr>
        <p:spPr>
          <a:xfrm>
            <a:off x="640080" y="1188720"/>
            <a:ext cx="7772400" cy="640080"/>
          </a:xfrm>
          <a:prstGeom prst="rect">
            <a:avLst/>
          </a:prstGeom>
          <a:noFill/>
          <a:ln/>
        </p:spPr>
        <p:txBody>
          <a:bodyPr wrap="square" lIns="0" tIns="0" rIns="0" bIns="0" rtlCol="0" anchor="ctr"/>
          <a:lstStyle/>
          <a:p>
            <a:pPr algn="ctr" indent="0" marL="0">
              <a:buNone/>
            </a:pPr>
            <a:r>
              <a:rPr lang="en-US" sz="3800" b="1" dirty="0">
                <a:solidFill>
                  <a:srgbClr val="FF6B6B"/>
                </a:solidFill>
                <a:latin typeface="Georgia" pitchFamily="34" charset="0"/>
                <a:ea typeface="Georgia" pitchFamily="34" charset="-122"/>
                <a:cs typeface="Georgia" pitchFamily="34" charset="-120"/>
              </a:rPr>
              <a:t>Not a Search Engine</a:t>
            </a:r>
            <a:endParaRPr lang="en-US" sz="3800" dirty="0"/>
          </a:p>
        </p:txBody>
      </p:sp>
      <p:sp>
        <p:nvSpPr>
          <p:cNvPr id="4" name="Shape 2"/>
          <p:cNvSpPr/>
          <p:nvPr/>
        </p:nvSpPr>
        <p:spPr>
          <a:xfrm>
            <a:off x="2743200" y="2011680"/>
            <a:ext cx="3657600" cy="0"/>
          </a:xfrm>
          <a:prstGeom prst="line">
            <a:avLst/>
          </a:prstGeom>
          <a:noFill/>
          <a:ln w="6350">
            <a:solidFill>
              <a:srgbClr val="94A3B8"/>
            </a:solidFill>
            <a:prstDash val="solid"/>
          </a:ln>
        </p:spPr>
      </p:sp>
      <p:sp>
        <p:nvSpPr>
          <p:cNvPr id="5" name="Text 3"/>
          <p:cNvSpPr/>
          <p:nvPr/>
        </p:nvSpPr>
        <p:spPr>
          <a:xfrm>
            <a:off x="640080" y="2286000"/>
            <a:ext cx="3657600" cy="365760"/>
          </a:xfrm>
          <a:prstGeom prst="rect">
            <a:avLst/>
          </a:prstGeom>
          <a:noFill/>
          <a:ln/>
        </p:spPr>
        <p:txBody>
          <a:bodyPr wrap="square" lIns="0" tIns="0" rIns="0" bIns="0" rtlCol="0" anchor="ctr"/>
          <a:lstStyle/>
          <a:p>
            <a:pPr algn="ctr" indent="0" marL="0">
              <a:buNone/>
            </a:pPr>
            <a:r>
              <a:rPr lang="en-US" sz="1600" b="1" dirty="0">
                <a:solidFill>
                  <a:srgbClr val="00C9A7"/>
                </a:solidFill>
                <a:latin typeface="Calibri" pitchFamily="34" charset="0"/>
                <a:ea typeface="Calibri" pitchFamily="34" charset="-122"/>
                <a:cs typeface="Calibri" pitchFamily="34" charset="-120"/>
              </a:rPr>
              <a:t>Great at</a:t>
            </a:r>
            <a:endParaRPr lang="en-US" sz="1600" dirty="0"/>
          </a:p>
        </p:txBody>
      </p:sp>
      <p:pic>
        <p:nvPicPr>
          <p:cNvPr id="6" name="Image 0" descr="preencoded.png">    </p:cNvPr>
          <p:cNvPicPr>
            <a:picLocks noChangeAspect="1"/>
          </p:cNvPicPr>
          <p:nvPr/>
        </p:nvPicPr>
        <p:blipFill>
          <a:blip r:embed="rId1"/>
          <a:stretch>
            <a:fillRect/>
          </a:stretch>
        </p:blipFill>
        <p:spPr>
          <a:xfrm>
            <a:off x="1097280" y="2697480"/>
            <a:ext cx="201168" cy="201168"/>
          </a:xfrm>
          <a:prstGeom prst="rect">
            <a:avLst/>
          </a:prstGeom>
        </p:spPr>
      </p:pic>
      <p:sp>
        <p:nvSpPr>
          <p:cNvPr id="7" name="Text 4"/>
          <p:cNvSpPr/>
          <p:nvPr/>
        </p:nvSpPr>
        <p:spPr>
          <a:xfrm>
            <a:off x="1417320" y="2670048"/>
            <a:ext cx="3017520" cy="2743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Structuring your thinking</a:t>
            </a:r>
            <a:endParaRPr lang="en-US" sz="1200" dirty="0"/>
          </a:p>
        </p:txBody>
      </p:sp>
      <p:pic>
        <p:nvPicPr>
          <p:cNvPr id="8" name="Image 1" descr="preencoded.png">    </p:cNvPr>
          <p:cNvPicPr>
            <a:picLocks noChangeAspect="1"/>
          </p:cNvPicPr>
          <p:nvPr/>
        </p:nvPicPr>
        <p:blipFill>
          <a:blip r:embed="rId2"/>
          <a:stretch>
            <a:fillRect/>
          </a:stretch>
        </p:blipFill>
        <p:spPr>
          <a:xfrm>
            <a:off x="1097280" y="3044952"/>
            <a:ext cx="201168" cy="201168"/>
          </a:xfrm>
          <a:prstGeom prst="rect">
            <a:avLst/>
          </a:prstGeom>
        </p:spPr>
      </p:pic>
      <p:sp>
        <p:nvSpPr>
          <p:cNvPr id="9" name="Text 5"/>
          <p:cNvSpPr/>
          <p:nvPr/>
        </p:nvSpPr>
        <p:spPr>
          <a:xfrm>
            <a:off x="1417320" y="3017520"/>
            <a:ext cx="3017520" cy="2743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Drafting and rewriting text</a:t>
            </a:r>
            <a:endParaRPr lang="en-US" sz="1200" dirty="0"/>
          </a:p>
        </p:txBody>
      </p:sp>
      <p:pic>
        <p:nvPicPr>
          <p:cNvPr id="10" name="Image 2" descr="preencoded.png">    </p:cNvPr>
          <p:cNvPicPr>
            <a:picLocks noChangeAspect="1"/>
          </p:cNvPicPr>
          <p:nvPr/>
        </p:nvPicPr>
        <p:blipFill>
          <a:blip r:embed="rId3"/>
          <a:stretch>
            <a:fillRect/>
          </a:stretch>
        </p:blipFill>
        <p:spPr>
          <a:xfrm>
            <a:off x="1097280" y="3392424"/>
            <a:ext cx="201168" cy="201168"/>
          </a:xfrm>
          <a:prstGeom prst="rect">
            <a:avLst/>
          </a:prstGeom>
        </p:spPr>
      </p:pic>
      <p:sp>
        <p:nvSpPr>
          <p:cNvPr id="11" name="Text 6"/>
          <p:cNvSpPr/>
          <p:nvPr/>
        </p:nvSpPr>
        <p:spPr>
          <a:xfrm>
            <a:off x="1417320" y="3364992"/>
            <a:ext cx="3017520" cy="2743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Explaining complex concepts</a:t>
            </a:r>
            <a:endParaRPr lang="en-US" sz="1200" dirty="0"/>
          </a:p>
        </p:txBody>
      </p:sp>
      <p:pic>
        <p:nvPicPr>
          <p:cNvPr id="12" name="Image 3" descr="preencoded.png">    </p:cNvPr>
          <p:cNvPicPr>
            <a:picLocks noChangeAspect="1"/>
          </p:cNvPicPr>
          <p:nvPr/>
        </p:nvPicPr>
        <p:blipFill>
          <a:blip r:embed="rId4"/>
          <a:stretch>
            <a:fillRect/>
          </a:stretch>
        </p:blipFill>
        <p:spPr>
          <a:xfrm>
            <a:off x="1097280" y="3739896"/>
            <a:ext cx="201168" cy="201168"/>
          </a:xfrm>
          <a:prstGeom prst="rect">
            <a:avLst/>
          </a:prstGeom>
        </p:spPr>
      </p:pic>
      <p:sp>
        <p:nvSpPr>
          <p:cNvPr id="13" name="Text 7"/>
          <p:cNvSpPr/>
          <p:nvPr/>
        </p:nvSpPr>
        <p:spPr>
          <a:xfrm>
            <a:off x="1417320" y="3712464"/>
            <a:ext cx="3017520" cy="2743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Brainstorming ideas</a:t>
            </a:r>
            <a:endParaRPr lang="en-US" sz="1200" dirty="0"/>
          </a:p>
        </p:txBody>
      </p:sp>
      <p:pic>
        <p:nvPicPr>
          <p:cNvPr id="14" name="Image 4" descr="preencoded.png">    </p:cNvPr>
          <p:cNvPicPr>
            <a:picLocks noChangeAspect="1"/>
          </p:cNvPicPr>
          <p:nvPr/>
        </p:nvPicPr>
        <p:blipFill>
          <a:blip r:embed="rId5"/>
          <a:stretch>
            <a:fillRect/>
          </a:stretch>
        </p:blipFill>
        <p:spPr>
          <a:xfrm>
            <a:off x="1097280" y="4087368"/>
            <a:ext cx="201168" cy="201168"/>
          </a:xfrm>
          <a:prstGeom prst="rect">
            <a:avLst/>
          </a:prstGeom>
        </p:spPr>
      </p:pic>
      <p:sp>
        <p:nvSpPr>
          <p:cNvPr id="15" name="Text 8"/>
          <p:cNvSpPr/>
          <p:nvPr/>
        </p:nvSpPr>
        <p:spPr>
          <a:xfrm>
            <a:off x="1417320" y="4059936"/>
            <a:ext cx="3017520" cy="2743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Analysing patterns in data</a:t>
            </a:r>
            <a:endParaRPr lang="en-US" sz="1200" dirty="0"/>
          </a:p>
        </p:txBody>
      </p:sp>
      <p:sp>
        <p:nvSpPr>
          <p:cNvPr id="16" name="Text 9"/>
          <p:cNvSpPr/>
          <p:nvPr/>
        </p:nvSpPr>
        <p:spPr>
          <a:xfrm>
            <a:off x="4846320" y="2286000"/>
            <a:ext cx="3657600" cy="365760"/>
          </a:xfrm>
          <a:prstGeom prst="rect">
            <a:avLst/>
          </a:prstGeom>
          <a:noFill/>
          <a:ln/>
        </p:spPr>
        <p:txBody>
          <a:bodyPr wrap="square" lIns="0" tIns="0" rIns="0" bIns="0" rtlCol="0" anchor="ctr"/>
          <a:lstStyle/>
          <a:p>
            <a:pPr algn="ctr" indent="0" marL="0">
              <a:buNone/>
            </a:pPr>
            <a:r>
              <a:rPr lang="en-US" sz="1600" b="1" dirty="0">
                <a:solidFill>
                  <a:srgbClr val="FF6B6B"/>
                </a:solidFill>
                <a:latin typeface="Calibri" pitchFamily="34" charset="0"/>
                <a:ea typeface="Calibri" pitchFamily="34" charset="-122"/>
                <a:cs typeface="Calibri" pitchFamily="34" charset="-120"/>
              </a:rPr>
              <a:t>Don't trust for</a:t>
            </a:r>
            <a:endParaRPr lang="en-US" sz="1600" dirty="0"/>
          </a:p>
        </p:txBody>
      </p:sp>
      <p:pic>
        <p:nvPicPr>
          <p:cNvPr id="17" name="Image 5" descr="preencoded.png">    </p:cNvPr>
          <p:cNvPicPr>
            <a:picLocks noChangeAspect="1"/>
          </p:cNvPicPr>
          <p:nvPr/>
        </p:nvPicPr>
        <p:blipFill>
          <a:blip r:embed="rId6"/>
          <a:stretch>
            <a:fillRect/>
          </a:stretch>
        </p:blipFill>
        <p:spPr>
          <a:xfrm>
            <a:off x="5303520" y="2697480"/>
            <a:ext cx="201168" cy="201168"/>
          </a:xfrm>
          <a:prstGeom prst="rect">
            <a:avLst/>
          </a:prstGeom>
        </p:spPr>
      </p:pic>
      <p:sp>
        <p:nvSpPr>
          <p:cNvPr id="18" name="Text 10"/>
          <p:cNvSpPr/>
          <p:nvPr/>
        </p:nvSpPr>
        <p:spPr>
          <a:xfrm>
            <a:off x="5623560" y="2670048"/>
            <a:ext cx="3017520" cy="2743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Looking up specific facts</a:t>
            </a:r>
            <a:endParaRPr lang="en-US" sz="1200" dirty="0"/>
          </a:p>
        </p:txBody>
      </p:sp>
      <p:pic>
        <p:nvPicPr>
          <p:cNvPr id="19" name="Image 6" descr="preencoded.png">    </p:cNvPr>
          <p:cNvPicPr>
            <a:picLocks noChangeAspect="1"/>
          </p:cNvPicPr>
          <p:nvPr/>
        </p:nvPicPr>
        <p:blipFill>
          <a:blip r:embed="rId7"/>
          <a:stretch>
            <a:fillRect/>
          </a:stretch>
        </p:blipFill>
        <p:spPr>
          <a:xfrm>
            <a:off x="5303520" y="3044952"/>
            <a:ext cx="201168" cy="201168"/>
          </a:xfrm>
          <a:prstGeom prst="rect">
            <a:avLst/>
          </a:prstGeom>
        </p:spPr>
      </p:pic>
      <p:sp>
        <p:nvSpPr>
          <p:cNvPr id="20" name="Text 11"/>
          <p:cNvSpPr/>
          <p:nvPr/>
        </p:nvSpPr>
        <p:spPr>
          <a:xfrm>
            <a:off x="5623560" y="3017520"/>
            <a:ext cx="3017520" cy="2743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Exact technical specifications</a:t>
            </a:r>
            <a:endParaRPr lang="en-US" sz="1200" dirty="0"/>
          </a:p>
        </p:txBody>
      </p:sp>
      <p:pic>
        <p:nvPicPr>
          <p:cNvPr id="21" name="Image 7" descr="preencoded.png">    </p:cNvPr>
          <p:cNvPicPr>
            <a:picLocks noChangeAspect="1"/>
          </p:cNvPicPr>
          <p:nvPr/>
        </p:nvPicPr>
        <p:blipFill>
          <a:blip r:embed="rId8"/>
          <a:stretch>
            <a:fillRect/>
          </a:stretch>
        </p:blipFill>
        <p:spPr>
          <a:xfrm>
            <a:off x="5303520" y="3392424"/>
            <a:ext cx="201168" cy="201168"/>
          </a:xfrm>
          <a:prstGeom prst="rect">
            <a:avLst/>
          </a:prstGeom>
        </p:spPr>
      </p:pic>
      <p:sp>
        <p:nvSpPr>
          <p:cNvPr id="22" name="Text 12"/>
          <p:cNvSpPr/>
          <p:nvPr/>
        </p:nvSpPr>
        <p:spPr>
          <a:xfrm>
            <a:off x="5623560" y="3364992"/>
            <a:ext cx="3017520" cy="2743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Current events / live data</a:t>
            </a:r>
            <a:endParaRPr lang="en-US" sz="1200" dirty="0"/>
          </a:p>
        </p:txBody>
      </p:sp>
      <p:pic>
        <p:nvPicPr>
          <p:cNvPr id="23" name="Image 8" descr="preencoded.png">    </p:cNvPr>
          <p:cNvPicPr>
            <a:picLocks noChangeAspect="1"/>
          </p:cNvPicPr>
          <p:nvPr/>
        </p:nvPicPr>
        <p:blipFill>
          <a:blip r:embed="rId9"/>
          <a:stretch>
            <a:fillRect/>
          </a:stretch>
        </p:blipFill>
        <p:spPr>
          <a:xfrm>
            <a:off x="5303520" y="3739896"/>
            <a:ext cx="201168" cy="201168"/>
          </a:xfrm>
          <a:prstGeom prst="rect">
            <a:avLst/>
          </a:prstGeom>
        </p:spPr>
      </p:pic>
      <p:sp>
        <p:nvSpPr>
          <p:cNvPr id="24" name="Text 13"/>
          <p:cNvSpPr/>
          <p:nvPr/>
        </p:nvSpPr>
        <p:spPr>
          <a:xfrm>
            <a:off x="5623560" y="3712464"/>
            <a:ext cx="3017520" cy="2743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Mathematical precision</a:t>
            </a:r>
            <a:endParaRPr lang="en-US" sz="1200" dirty="0"/>
          </a:p>
        </p:txBody>
      </p:sp>
      <p:pic>
        <p:nvPicPr>
          <p:cNvPr id="25" name="Image 9" descr="preencoded.png">    </p:cNvPr>
          <p:cNvPicPr>
            <a:picLocks noChangeAspect="1"/>
          </p:cNvPicPr>
          <p:nvPr/>
        </p:nvPicPr>
        <p:blipFill>
          <a:blip r:embed="rId10"/>
          <a:stretch>
            <a:fillRect/>
          </a:stretch>
        </p:blipFill>
        <p:spPr>
          <a:xfrm>
            <a:off x="5303520" y="4087368"/>
            <a:ext cx="201168" cy="201168"/>
          </a:xfrm>
          <a:prstGeom prst="rect">
            <a:avLst/>
          </a:prstGeom>
        </p:spPr>
      </p:pic>
      <p:sp>
        <p:nvSpPr>
          <p:cNvPr id="26" name="Text 14"/>
          <p:cNvSpPr/>
          <p:nvPr/>
        </p:nvSpPr>
        <p:spPr>
          <a:xfrm>
            <a:off x="5623560" y="4059936"/>
            <a:ext cx="3017520" cy="274320"/>
          </a:xfrm>
          <a:prstGeom prst="rect">
            <a:avLst/>
          </a:prstGeom>
          <a:noFill/>
          <a:ln/>
        </p:spPr>
        <p:txBody>
          <a:bodyPr wrap="square" lIns="0" tIns="0" rIns="0" bIns="0" rtlCol="0" anchor="ctr"/>
          <a:lstStyle/>
          <a:p>
            <a:pPr indent="0" marL="0">
              <a:buNone/>
            </a:pPr>
            <a:r>
              <a:rPr lang="en-US" sz="1200" dirty="0">
                <a:solidFill>
                  <a:srgbClr val="E2E8F0"/>
                </a:solidFill>
                <a:latin typeface="Calibri" pitchFamily="34" charset="0"/>
                <a:ea typeface="Calibri" pitchFamily="34" charset="-122"/>
                <a:cs typeface="Calibri" pitchFamily="34" charset="-120"/>
              </a:rPr>
              <a:t>Legal or compliance claims</a:t>
            </a:r>
            <a:endParaRPr lang="en-US" sz="1200" dirty="0"/>
          </a:p>
        </p:txBody>
      </p:sp>
      <p:sp>
        <p:nvSpPr>
          <p:cNvPr id="27" name="Shape 15"/>
          <p:cNvSpPr/>
          <p:nvPr/>
        </p:nvSpPr>
        <p:spPr>
          <a:xfrm>
            <a:off x="640080" y="4434840"/>
            <a:ext cx="7863840" cy="502920"/>
          </a:xfrm>
          <a:prstGeom prst="rect">
            <a:avLst/>
          </a:prstGeom>
          <a:solidFill>
            <a:srgbClr val="151E2F"/>
          </a:solidFill>
          <a:ln w="12700">
            <a:solidFill>
              <a:srgbClr val="7C6BFF"/>
            </a:solidFill>
            <a:prstDash val="solid"/>
          </a:ln>
        </p:spPr>
      </p:sp>
      <p:sp>
        <p:nvSpPr>
          <p:cNvPr id="28" name="Text 16"/>
          <p:cNvSpPr/>
          <p:nvPr/>
        </p:nvSpPr>
        <p:spPr>
          <a:xfrm>
            <a:off x="822960" y="4434840"/>
            <a:ext cx="7498080" cy="502920"/>
          </a:xfrm>
          <a:prstGeom prst="rect">
            <a:avLst/>
          </a:prstGeom>
          <a:noFill/>
          <a:ln/>
        </p:spPr>
        <p:txBody>
          <a:bodyPr wrap="square" lIns="0" tIns="0" rIns="0" bIns="0" rtlCol="0" anchor="ctr"/>
          <a:lstStyle/>
          <a:p>
            <a:pPr algn="ctr" indent="0" marL="0">
              <a:buNone/>
            </a:pPr>
            <a:r>
              <a:rPr lang="en-US" sz="1300" dirty="0">
                <a:solidFill>
                  <a:srgbClr val="7C6BFF"/>
                </a:solidFill>
                <a:latin typeface="Calibri" pitchFamily="34" charset="0"/>
                <a:ea typeface="Calibri" pitchFamily="34" charset="-122"/>
                <a:cs typeface="Calibri" pitchFamily="34" charset="-120"/>
              </a:rPr>
              <a:t>Think of it as a brilliant new hire — incredible at reasoning and writing, but verify everything they claim as fact.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40080" y="320040"/>
            <a:ext cx="7772400" cy="640080"/>
          </a:xfrm>
          <a:prstGeom prst="rect">
            <a:avLst/>
          </a:prstGeom>
          <a:noFill/>
          <a:ln/>
        </p:spPr>
        <p:txBody>
          <a:bodyPr wrap="square" lIns="0" tIns="0" rIns="0" bIns="0"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Anatomy of a Good Prompt</a:t>
            </a:r>
            <a:endParaRPr lang="en-US" sz="3200" dirty="0"/>
          </a:p>
        </p:txBody>
      </p:sp>
      <p:sp>
        <p:nvSpPr>
          <p:cNvPr id="3" name="Shape 1"/>
          <p:cNvSpPr/>
          <p:nvPr/>
        </p:nvSpPr>
        <p:spPr>
          <a:xfrm>
            <a:off x="731520" y="1143000"/>
            <a:ext cx="502920" cy="502920"/>
          </a:xfrm>
          <a:prstGeom prst="ellipse">
            <a:avLst/>
          </a:prstGeom>
          <a:solidFill>
            <a:srgbClr val="00C9A7"/>
          </a:solidFill>
          <a:ln/>
        </p:spPr>
      </p:sp>
      <p:sp>
        <p:nvSpPr>
          <p:cNvPr id="4" name="Text 2"/>
          <p:cNvSpPr/>
          <p:nvPr/>
        </p:nvSpPr>
        <p:spPr>
          <a:xfrm>
            <a:off x="731520" y="11430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R</a:t>
            </a:r>
            <a:endParaRPr lang="en-US" sz="2000" dirty="0"/>
          </a:p>
        </p:txBody>
      </p:sp>
      <p:sp>
        <p:nvSpPr>
          <p:cNvPr id="5" name="Text 3"/>
          <p:cNvSpPr/>
          <p:nvPr/>
        </p:nvSpPr>
        <p:spPr>
          <a:xfrm>
            <a:off x="1417320" y="1097280"/>
            <a:ext cx="137160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Role</a:t>
            </a:r>
            <a:endParaRPr lang="en-US" sz="1600" dirty="0"/>
          </a:p>
        </p:txBody>
      </p:sp>
      <p:sp>
        <p:nvSpPr>
          <p:cNvPr id="6" name="Text 4"/>
          <p:cNvSpPr/>
          <p:nvPr/>
        </p:nvSpPr>
        <p:spPr>
          <a:xfrm>
            <a:off x="1417320" y="1417320"/>
            <a:ext cx="694944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Tell it who to be: "You are an experienced technical writer..."</a:t>
            </a:r>
            <a:endParaRPr lang="en-US" sz="1200" dirty="0"/>
          </a:p>
        </p:txBody>
      </p:sp>
      <p:sp>
        <p:nvSpPr>
          <p:cNvPr id="7" name="Shape 5"/>
          <p:cNvSpPr/>
          <p:nvPr/>
        </p:nvSpPr>
        <p:spPr>
          <a:xfrm>
            <a:off x="731520" y="1892808"/>
            <a:ext cx="502920" cy="502920"/>
          </a:xfrm>
          <a:prstGeom prst="ellipse">
            <a:avLst/>
          </a:prstGeom>
          <a:solidFill>
            <a:srgbClr val="7C6BFF"/>
          </a:solidFill>
          <a:ln/>
        </p:spPr>
      </p:sp>
      <p:sp>
        <p:nvSpPr>
          <p:cNvPr id="8" name="Text 6"/>
          <p:cNvSpPr/>
          <p:nvPr/>
        </p:nvSpPr>
        <p:spPr>
          <a:xfrm>
            <a:off x="731520" y="1892808"/>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C</a:t>
            </a:r>
            <a:endParaRPr lang="en-US" sz="2000" dirty="0"/>
          </a:p>
        </p:txBody>
      </p:sp>
      <p:sp>
        <p:nvSpPr>
          <p:cNvPr id="9" name="Text 7"/>
          <p:cNvSpPr/>
          <p:nvPr/>
        </p:nvSpPr>
        <p:spPr>
          <a:xfrm>
            <a:off x="1417320" y="1847088"/>
            <a:ext cx="137160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Context</a:t>
            </a:r>
            <a:endParaRPr lang="en-US" sz="1600" dirty="0"/>
          </a:p>
        </p:txBody>
      </p:sp>
      <p:sp>
        <p:nvSpPr>
          <p:cNvPr id="10" name="Text 8"/>
          <p:cNvSpPr/>
          <p:nvPr/>
        </p:nvSpPr>
        <p:spPr>
          <a:xfrm>
            <a:off x="1417320" y="2167128"/>
            <a:ext cx="694944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Give background: "I'm writing to a customer who is pushing back on pricing..."</a:t>
            </a:r>
            <a:endParaRPr lang="en-US" sz="1200" dirty="0"/>
          </a:p>
        </p:txBody>
      </p:sp>
      <p:sp>
        <p:nvSpPr>
          <p:cNvPr id="11" name="Shape 9"/>
          <p:cNvSpPr/>
          <p:nvPr/>
        </p:nvSpPr>
        <p:spPr>
          <a:xfrm>
            <a:off x="731520" y="2642616"/>
            <a:ext cx="502920" cy="502920"/>
          </a:xfrm>
          <a:prstGeom prst="ellipse">
            <a:avLst/>
          </a:prstGeom>
          <a:solidFill>
            <a:srgbClr val="FFAA33"/>
          </a:solidFill>
          <a:ln/>
        </p:spPr>
      </p:sp>
      <p:sp>
        <p:nvSpPr>
          <p:cNvPr id="12" name="Text 10"/>
          <p:cNvSpPr/>
          <p:nvPr/>
        </p:nvSpPr>
        <p:spPr>
          <a:xfrm>
            <a:off x="731520" y="2642616"/>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T</a:t>
            </a:r>
            <a:endParaRPr lang="en-US" sz="2000" dirty="0"/>
          </a:p>
        </p:txBody>
      </p:sp>
      <p:sp>
        <p:nvSpPr>
          <p:cNvPr id="13" name="Text 11"/>
          <p:cNvSpPr/>
          <p:nvPr/>
        </p:nvSpPr>
        <p:spPr>
          <a:xfrm>
            <a:off x="1417320" y="2596896"/>
            <a:ext cx="137160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Task</a:t>
            </a:r>
            <a:endParaRPr lang="en-US" sz="1600" dirty="0"/>
          </a:p>
        </p:txBody>
      </p:sp>
      <p:sp>
        <p:nvSpPr>
          <p:cNvPr id="14" name="Text 12"/>
          <p:cNvSpPr/>
          <p:nvPr/>
        </p:nvSpPr>
        <p:spPr>
          <a:xfrm>
            <a:off x="1417320" y="2916936"/>
            <a:ext cx="694944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Be specific: "Draft a 200-word email explaining the price increase..."</a:t>
            </a:r>
            <a:endParaRPr lang="en-US" sz="1200" dirty="0"/>
          </a:p>
        </p:txBody>
      </p:sp>
      <p:sp>
        <p:nvSpPr>
          <p:cNvPr id="15" name="Shape 13"/>
          <p:cNvSpPr/>
          <p:nvPr/>
        </p:nvSpPr>
        <p:spPr>
          <a:xfrm>
            <a:off x="731520" y="3392424"/>
            <a:ext cx="502920" cy="502920"/>
          </a:xfrm>
          <a:prstGeom prst="ellipse">
            <a:avLst/>
          </a:prstGeom>
          <a:solidFill>
            <a:srgbClr val="FF6B6B"/>
          </a:solidFill>
          <a:ln/>
        </p:spPr>
      </p:sp>
      <p:sp>
        <p:nvSpPr>
          <p:cNvPr id="16" name="Text 14"/>
          <p:cNvSpPr/>
          <p:nvPr/>
        </p:nvSpPr>
        <p:spPr>
          <a:xfrm>
            <a:off x="731520" y="339242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F</a:t>
            </a:r>
            <a:endParaRPr lang="en-US" sz="2000" dirty="0"/>
          </a:p>
        </p:txBody>
      </p:sp>
      <p:sp>
        <p:nvSpPr>
          <p:cNvPr id="17" name="Text 15"/>
          <p:cNvSpPr/>
          <p:nvPr/>
        </p:nvSpPr>
        <p:spPr>
          <a:xfrm>
            <a:off x="1417320" y="3346704"/>
            <a:ext cx="137160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Format</a:t>
            </a:r>
            <a:endParaRPr lang="en-US" sz="1600" dirty="0"/>
          </a:p>
        </p:txBody>
      </p:sp>
      <p:sp>
        <p:nvSpPr>
          <p:cNvPr id="18" name="Text 16"/>
          <p:cNvSpPr/>
          <p:nvPr/>
        </p:nvSpPr>
        <p:spPr>
          <a:xfrm>
            <a:off x="1417320" y="3666744"/>
            <a:ext cx="694944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Specify output: "Use bullet points. Keep it under one page. Professional tone."</a:t>
            </a:r>
            <a:endParaRPr lang="en-US" sz="1200" dirty="0"/>
          </a:p>
        </p:txBody>
      </p:sp>
      <p:sp>
        <p:nvSpPr>
          <p:cNvPr id="19" name="Shape 17"/>
          <p:cNvSpPr/>
          <p:nvPr/>
        </p:nvSpPr>
        <p:spPr>
          <a:xfrm>
            <a:off x="731520" y="4142232"/>
            <a:ext cx="502920" cy="502920"/>
          </a:xfrm>
          <a:prstGeom prst="ellipse">
            <a:avLst/>
          </a:prstGeom>
          <a:solidFill>
            <a:srgbClr val="2563EB"/>
          </a:solidFill>
          <a:ln/>
        </p:spPr>
      </p:sp>
      <p:sp>
        <p:nvSpPr>
          <p:cNvPr id="20" name="Text 18"/>
          <p:cNvSpPr/>
          <p:nvPr/>
        </p:nvSpPr>
        <p:spPr>
          <a:xfrm>
            <a:off x="731520" y="4142232"/>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E</a:t>
            </a:r>
            <a:endParaRPr lang="en-US" sz="2000" dirty="0"/>
          </a:p>
        </p:txBody>
      </p:sp>
      <p:sp>
        <p:nvSpPr>
          <p:cNvPr id="21" name="Text 19"/>
          <p:cNvSpPr/>
          <p:nvPr/>
        </p:nvSpPr>
        <p:spPr>
          <a:xfrm>
            <a:off x="1417320" y="4096512"/>
            <a:ext cx="1371600" cy="320040"/>
          </a:xfrm>
          <a:prstGeom prst="rect">
            <a:avLst/>
          </a:prstGeom>
          <a:noFill/>
          <a:ln/>
        </p:spPr>
        <p:txBody>
          <a:bodyPr wrap="square" lIns="0" tIns="0" rIns="0" bIns="0" rtlCol="0" anchor="ctr"/>
          <a:lstStyle/>
          <a:p>
            <a:pPr indent="0" marL="0">
              <a:buNone/>
            </a:pPr>
            <a:r>
              <a:rPr lang="en-US" sz="1600" b="1" dirty="0">
                <a:solidFill>
                  <a:srgbClr val="1E293B"/>
                </a:solidFill>
                <a:latin typeface="Calibri" pitchFamily="34" charset="0"/>
                <a:ea typeface="Calibri" pitchFamily="34" charset="-122"/>
                <a:cs typeface="Calibri" pitchFamily="34" charset="-120"/>
              </a:rPr>
              <a:t>Examples</a:t>
            </a:r>
            <a:endParaRPr lang="en-US" sz="1600" dirty="0"/>
          </a:p>
        </p:txBody>
      </p:sp>
      <p:sp>
        <p:nvSpPr>
          <p:cNvPr id="22" name="Text 20"/>
          <p:cNvSpPr/>
          <p:nvPr/>
        </p:nvSpPr>
        <p:spPr>
          <a:xfrm>
            <a:off x="1417320" y="4416552"/>
            <a:ext cx="6949440" cy="274320"/>
          </a:xfrm>
          <a:prstGeom prst="rect">
            <a:avLst/>
          </a:prstGeom>
          <a:noFill/>
          <a:ln/>
        </p:spPr>
        <p:txBody>
          <a:bodyPr wrap="square" lIns="0" tIns="0" rIns="0" bIns="0" rtlCol="0" anchor="ctr"/>
          <a:lstStyle/>
          <a:p>
            <a:pPr indent="0" marL="0">
              <a:buNone/>
            </a:pPr>
            <a:r>
              <a:rPr lang="en-US" sz="1200" dirty="0">
                <a:solidFill>
                  <a:srgbClr val="475569"/>
                </a:solidFill>
                <a:latin typeface="Calibri" pitchFamily="34" charset="0"/>
                <a:ea typeface="Calibri" pitchFamily="34" charset="-122"/>
                <a:cs typeface="Calibri" pitchFamily="34" charset="-120"/>
              </a:rPr>
              <a:t>Show what good looks like: "Here's an example of the tone I want..."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40080" y="228600"/>
            <a:ext cx="7772400" cy="548640"/>
          </a:xfrm>
          <a:prstGeom prst="rect">
            <a:avLst/>
          </a:prstGeom>
          <a:noFill/>
          <a:ln/>
        </p:spPr>
        <p:txBody>
          <a:bodyPr wrap="square" lIns="0" tIns="0" rIns="0" bIns="0"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Good vs Bad Prompts</a:t>
            </a:r>
            <a:endParaRPr lang="en-US" sz="3200" dirty="0"/>
          </a:p>
        </p:txBody>
      </p:sp>
      <p:pic>
        <p:nvPicPr>
          <p:cNvPr id="3" name="Image 0" descr="preencoded.png">    </p:cNvPr>
          <p:cNvPicPr>
            <a:picLocks noChangeAspect="1"/>
          </p:cNvPicPr>
          <p:nvPr/>
        </p:nvPicPr>
        <p:blipFill>
          <a:blip r:embed="rId1"/>
          <a:stretch>
            <a:fillRect/>
          </a:stretch>
        </p:blipFill>
        <p:spPr>
          <a:xfrm>
            <a:off x="731520" y="960120"/>
            <a:ext cx="274320" cy="274320"/>
          </a:xfrm>
          <a:prstGeom prst="rect">
            <a:avLst/>
          </a:prstGeom>
        </p:spPr>
      </p:pic>
      <p:sp>
        <p:nvSpPr>
          <p:cNvPr id="4" name="Text 1"/>
          <p:cNvSpPr/>
          <p:nvPr/>
        </p:nvSpPr>
        <p:spPr>
          <a:xfrm>
            <a:off x="1097280" y="960120"/>
            <a:ext cx="640080" cy="274320"/>
          </a:xfrm>
          <a:prstGeom prst="rect">
            <a:avLst/>
          </a:prstGeom>
          <a:noFill/>
          <a:ln/>
        </p:spPr>
        <p:txBody>
          <a:bodyPr wrap="square" lIns="0" tIns="0" rIns="0" bIns="0" rtlCol="0" anchor="ctr"/>
          <a:lstStyle/>
          <a:p>
            <a:pPr indent="0" marL="0">
              <a:buNone/>
            </a:pPr>
            <a:r>
              <a:rPr lang="en-US" sz="1300" b="1" dirty="0">
                <a:solidFill>
                  <a:srgbClr val="EF4444"/>
                </a:solidFill>
                <a:latin typeface="Calibri" pitchFamily="34" charset="0"/>
                <a:ea typeface="Calibri" pitchFamily="34" charset="-122"/>
                <a:cs typeface="Calibri" pitchFamily="34" charset="-120"/>
              </a:rPr>
              <a:t>Bad:</a:t>
            </a:r>
            <a:endParaRPr lang="en-US" sz="1300" dirty="0"/>
          </a:p>
        </p:txBody>
      </p:sp>
      <p:sp>
        <p:nvSpPr>
          <p:cNvPr id="5" name="Shape 2"/>
          <p:cNvSpPr/>
          <p:nvPr/>
        </p:nvSpPr>
        <p:spPr>
          <a:xfrm>
            <a:off x="640080" y="1280160"/>
            <a:ext cx="7863840" cy="457200"/>
          </a:xfrm>
          <a:prstGeom prst="rect">
            <a:avLst/>
          </a:prstGeom>
          <a:solidFill>
            <a:srgbClr val="FEF2F2"/>
          </a:solidFill>
          <a:ln w="6350">
            <a:solidFill>
              <a:srgbClr val="FECACA"/>
            </a:solidFill>
            <a:prstDash val="solid"/>
          </a:ln>
        </p:spPr>
      </p:sp>
      <p:sp>
        <p:nvSpPr>
          <p:cNvPr id="6" name="Text 3"/>
          <p:cNvSpPr/>
          <p:nvPr/>
        </p:nvSpPr>
        <p:spPr>
          <a:xfrm>
            <a:off x="822960" y="1280160"/>
            <a:ext cx="7498080" cy="457200"/>
          </a:xfrm>
          <a:prstGeom prst="rect">
            <a:avLst/>
          </a:prstGeom>
          <a:noFill/>
          <a:ln/>
        </p:spPr>
        <p:txBody>
          <a:bodyPr wrap="square" lIns="0" tIns="0" rIns="0" bIns="0" rtlCol="0" anchor="ctr"/>
          <a:lstStyle/>
          <a:p>
            <a:pPr indent="0" marL="0">
              <a:buNone/>
            </a:pPr>
            <a:r>
              <a:rPr lang="en-US" sz="1300" dirty="0">
                <a:solidFill>
                  <a:srgbClr val="EF4444"/>
                </a:solidFill>
                <a:latin typeface="Consolas" pitchFamily="34" charset="0"/>
                <a:ea typeface="Consolas" pitchFamily="34" charset="-122"/>
                <a:cs typeface="Consolas" pitchFamily="34" charset="-120"/>
              </a:rPr>
              <a:t>"Write me an email about a price increase."</a:t>
            </a:r>
            <a:endParaRPr lang="en-US" sz="1300" dirty="0"/>
          </a:p>
        </p:txBody>
      </p:sp>
      <p:pic>
        <p:nvPicPr>
          <p:cNvPr id="7" name="Image 1" descr="preencoded.png">    </p:cNvPr>
          <p:cNvPicPr>
            <a:picLocks noChangeAspect="1"/>
          </p:cNvPicPr>
          <p:nvPr/>
        </p:nvPicPr>
        <p:blipFill>
          <a:blip r:embed="rId2"/>
          <a:stretch>
            <a:fillRect/>
          </a:stretch>
        </p:blipFill>
        <p:spPr>
          <a:xfrm>
            <a:off x="731520" y="1920240"/>
            <a:ext cx="274320" cy="274320"/>
          </a:xfrm>
          <a:prstGeom prst="rect">
            <a:avLst/>
          </a:prstGeom>
        </p:spPr>
      </p:pic>
      <p:sp>
        <p:nvSpPr>
          <p:cNvPr id="8" name="Text 4"/>
          <p:cNvSpPr/>
          <p:nvPr/>
        </p:nvSpPr>
        <p:spPr>
          <a:xfrm>
            <a:off x="1097280" y="1920240"/>
            <a:ext cx="640080" cy="274320"/>
          </a:xfrm>
          <a:prstGeom prst="rect">
            <a:avLst/>
          </a:prstGeom>
          <a:noFill/>
          <a:ln/>
        </p:spPr>
        <p:txBody>
          <a:bodyPr wrap="square" lIns="0" tIns="0" rIns="0" bIns="0" rtlCol="0" anchor="ctr"/>
          <a:lstStyle/>
          <a:p>
            <a:pPr indent="0" marL="0">
              <a:buNone/>
            </a:pPr>
            <a:r>
              <a:rPr lang="en-US" sz="1300" b="1" dirty="0">
                <a:solidFill>
                  <a:srgbClr val="10B981"/>
                </a:solidFill>
                <a:latin typeface="Calibri" pitchFamily="34" charset="0"/>
                <a:ea typeface="Calibri" pitchFamily="34" charset="-122"/>
                <a:cs typeface="Calibri" pitchFamily="34" charset="-120"/>
              </a:rPr>
              <a:t>Good:</a:t>
            </a:r>
            <a:endParaRPr lang="en-US" sz="1300" dirty="0"/>
          </a:p>
        </p:txBody>
      </p:sp>
      <p:sp>
        <p:nvSpPr>
          <p:cNvPr id="9" name="Shape 5"/>
          <p:cNvSpPr/>
          <p:nvPr/>
        </p:nvSpPr>
        <p:spPr>
          <a:xfrm>
            <a:off x="640080" y="2240280"/>
            <a:ext cx="7863840" cy="1051560"/>
          </a:xfrm>
          <a:prstGeom prst="rect">
            <a:avLst/>
          </a:prstGeom>
          <a:solidFill>
            <a:srgbClr val="F0FDF4"/>
          </a:solidFill>
          <a:ln w="6350">
            <a:solidFill>
              <a:srgbClr val="BBF7D0"/>
            </a:solidFill>
            <a:prstDash val="solid"/>
          </a:ln>
        </p:spPr>
      </p:sp>
      <p:sp>
        <p:nvSpPr>
          <p:cNvPr id="10" name="Text 6"/>
          <p:cNvSpPr/>
          <p:nvPr/>
        </p:nvSpPr>
        <p:spPr>
          <a:xfrm>
            <a:off x="822960" y="2286000"/>
            <a:ext cx="7498080" cy="960120"/>
          </a:xfrm>
          <a:prstGeom prst="rect">
            <a:avLst/>
          </a:prstGeom>
          <a:noFill/>
          <a:ln/>
        </p:spPr>
        <p:txBody>
          <a:bodyPr wrap="square" lIns="0" tIns="0" rIns="0" bIns="0" rtlCol="0" anchor="t"/>
          <a:lstStyle/>
          <a:p>
            <a:pPr indent="0" marL="0">
              <a:buNone/>
            </a:pPr>
            <a:r>
              <a:rPr lang="en-US" sz="1200" dirty="0">
                <a:solidFill>
                  <a:srgbClr val="166534"/>
                </a:solidFill>
                <a:latin typeface="Consolas" pitchFamily="34" charset="0"/>
                <a:ea typeface="Consolas" pitchFamily="34" charset="-122"/>
                <a:cs typeface="Consolas" pitchFamily="34" charset="-120"/>
              </a:rPr>
              <a:t>"You are a pricing manager in industrial distribution. Draft a professional email to a key account customer explaining a 7% price increase on wire rope products. The increase is driven by EUR/AUD currency movements. Tone: firm but empathetic. Under 200 words. Include a clear effective date."</a:t>
            </a:r>
            <a:endParaRPr lang="en-US" sz="1200" dirty="0"/>
          </a:p>
        </p:txBody>
      </p:sp>
      <p:pic>
        <p:nvPicPr>
          <p:cNvPr id="11" name="Image 2" descr="preencoded.png">    </p:cNvPr>
          <p:cNvPicPr>
            <a:picLocks noChangeAspect="1"/>
          </p:cNvPicPr>
          <p:nvPr/>
        </p:nvPicPr>
        <p:blipFill>
          <a:blip r:embed="rId3"/>
          <a:stretch>
            <a:fillRect/>
          </a:stretch>
        </p:blipFill>
        <p:spPr>
          <a:xfrm>
            <a:off x="731520" y="3474720"/>
            <a:ext cx="228600" cy="228600"/>
          </a:xfrm>
          <a:prstGeom prst="rect">
            <a:avLst/>
          </a:prstGeom>
        </p:spPr>
      </p:pic>
      <p:sp>
        <p:nvSpPr>
          <p:cNvPr id="12" name="Text 7"/>
          <p:cNvSpPr/>
          <p:nvPr/>
        </p:nvSpPr>
        <p:spPr>
          <a:xfrm>
            <a:off x="1051560" y="3474720"/>
            <a:ext cx="640080" cy="228600"/>
          </a:xfrm>
          <a:prstGeom prst="rect">
            <a:avLst/>
          </a:prstGeom>
          <a:noFill/>
          <a:ln/>
        </p:spPr>
        <p:txBody>
          <a:bodyPr wrap="square" lIns="0" tIns="0" rIns="0" bIns="0" rtlCol="0" anchor="ctr"/>
          <a:lstStyle/>
          <a:p>
            <a:pPr indent="0" marL="0">
              <a:buNone/>
            </a:pPr>
            <a:r>
              <a:rPr lang="en-US" sz="1200" b="1" dirty="0">
                <a:solidFill>
                  <a:srgbClr val="EF4444"/>
                </a:solidFill>
                <a:latin typeface="Calibri" pitchFamily="34" charset="0"/>
                <a:ea typeface="Calibri" pitchFamily="34" charset="-122"/>
                <a:cs typeface="Calibri" pitchFamily="34" charset="-120"/>
              </a:rPr>
              <a:t>Bad:</a:t>
            </a:r>
            <a:endParaRPr lang="en-US" sz="1200" dirty="0"/>
          </a:p>
        </p:txBody>
      </p:sp>
      <p:sp>
        <p:nvSpPr>
          <p:cNvPr id="13" name="Shape 8"/>
          <p:cNvSpPr/>
          <p:nvPr/>
        </p:nvSpPr>
        <p:spPr>
          <a:xfrm>
            <a:off x="640080" y="3749040"/>
            <a:ext cx="3657600" cy="365760"/>
          </a:xfrm>
          <a:prstGeom prst="rect">
            <a:avLst/>
          </a:prstGeom>
          <a:solidFill>
            <a:srgbClr val="FEF2F2"/>
          </a:solidFill>
          <a:ln w="6350">
            <a:solidFill>
              <a:srgbClr val="FECACA"/>
            </a:solidFill>
            <a:prstDash val="solid"/>
          </a:ln>
        </p:spPr>
      </p:sp>
      <p:sp>
        <p:nvSpPr>
          <p:cNvPr id="14" name="Text 9"/>
          <p:cNvSpPr/>
          <p:nvPr/>
        </p:nvSpPr>
        <p:spPr>
          <a:xfrm>
            <a:off x="822960" y="3749040"/>
            <a:ext cx="3291840" cy="365760"/>
          </a:xfrm>
          <a:prstGeom prst="rect">
            <a:avLst/>
          </a:prstGeom>
          <a:noFill/>
          <a:ln/>
        </p:spPr>
        <p:txBody>
          <a:bodyPr wrap="square" lIns="0" tIns="0" rIns="0" bIns="0" rtlCol="0" anchor="ctr"/>
          <a:lstStyle/>
          <a:p>
            <a:pPr indent="0" marL="0">
              <a:buNone/>
            </a:pPr>
            <a:r>
              <a:rPr lang="en-US" sz="1200" dirty="0">
                <a:solidFill>
                  <a:srgbClr val="EF4444"/>
                </a:solidFill>
                <a:latin typeface="Consolas" pitchFamily="34" charset="0"/>
                <a:ea typeface="Consolas" pitchFamily="34" charset="-122"/>
                <a:cs typeface="Consolas" pitchFamily="34" charset="-120"/>
              </a:rPr>
              <a:t>"Summarise this report."</a:t>
            </a:r>
            <a:endParaRPr lang="en-US" sz="1200" dirty="0"/>
          </a:p>
        </p:txBody>
      </p:sp>
      <p:pic>
        <p:nvPicPr>
          <p:cNvPr id="15" name="Image 3" descr="preencoded.png">    </p:cNvPr>
          <p:cNvPicPr>
            <a:picLocks noChangeAspect="1"/>
          </p:cNvPicPr>
          <p:nvPr/>
        </p:nvPicPr>
        <p:blipFill>
          <a:blip r:embed="rId4"/>
          <a:stretch>
            <a:fillRect/>
          </a:stretch>
        </p:blipFill>
        <p:spPr>
          <a:xfrm>
            <a:off x="4709160" y="3474720"/>
            <a:ext cx="228600" cy="228600"/>
          </a:xfrm>
          <a:prstGeom prst="rect">
            <a:avLst/>
          </a:prstGeom>
        </p:spPr>
      </p:pic>
      <p:sp>
        <p:nvSpPr>
          <p:cNvPr id="16" name="Text 10"/>
          <p:cNvSpPr/>
          <p:nvPr/>
        </p:nvSpPr>
        <p:spPr>
          <a:xfrm>
            <a:off x="5029200" y="3474720"/>
            <a:ext cx="640080" cy="228600"/>
          </a:xfrm>
          <a:prstGeom prst="rect">
            <a:avLst/>
          </a:prstGeom>
          <a:noFill/>
          <a:ln/>
        </p:spPr>
        <p:txBody>
          <a:bodyPr wrap="square" lIns="0" tIns="0" rIns="0" bIns="0" rtlCol="0" anchor="ctr"/>
          <a:lstStyle/>
          <a:p>
            <a:pPr indent="0" marL="0">
              <a:buNone/>
            </a:pPr>
            <a:r>
              <a:rPr lang="en-US" sz="1200" b="1" dirty="0">
                <a:solidFill>
                  <a:srgbClr val="10B981"/>
                </a:solidFill>
                <a:latin typeface="Calibri" pitchFamily="34" charset="0"/>
                <a:ea typeface="Calibri" pitchFamily="34" charset="-122"/>
                <a:cs typeface="Calibri" pitchFamily="34" charset="-120"/>
              </a:rPr>
              <a:t>Good:</a:t>
            </a:r>
            <a:endParaRPr lang="en-US" sz="1200" dirty="0"/>
          </a:p>
        </p:txBody>
      </p:sp>
      <p:sp>
        <p:nvSpPr>
          <p:cNvPr id="17" name="Shape 11"/>
          <p:cNvSpPr/>
          <p:nvPr/>
        </p:nvSpPr>
        <p:spPr>
          <a:xfrm>
            <a:off x="4572000" y="3749040"/>
            <a:ext cx="3931920" cy="640080"/>
          </a:xfrm>
          <a:prstGeom prst="rect">
            <a:avLst/>
          </a:prstGeom>
          <a:solidFill>
            <a:srgbClr val="F0FDF4"/>
          </a:solidFill>
          <a:ln w="6350">
            <a:solidFill>
              <a:srgbClr val="BBF7D0"/>
            </a:solidFill>
            <a:prstDash val="solid"/>
          </a:ln>
        </p:spPr>
      </p:sp>
      <p:sp>
        <p:nvSpPr>
          <p:cNvPr id="18" name="Text 12"/>
          <p:cNvSpPr/>
          <p:nvPr/>
        </p:nvSpPr>
        <p:spPr>
          <a:xfrm>
            <a:off x="4754880" y="3794760"/>
            <a:ext cx="3566160" cy="548640"/>
          </a:xfrm>
          <a:prstGeom prst="rect">
            <a:avLst/>
          </a:prstGeom>
          <a:noFill/>
          <a:ln/>
        </p:spPr>
        <p:txBody>
          <a:bodyPr wrap="square" lIns="0" tIns="0" rIns="0" bIns="0" rtlCol="0" anchor="t"/>
          <a:lstStyle/>
          <a:p>
            <a:pPr indent="0" marL="0">
              <a:buNone/>
            </a:pPr>
            <a:r>
              <a:rPr lang="en-US" sz="1100" dirty="0">
                <a:solidFill>
                  <a:srgbClr val="166534"/>
                </a:solidFill>
                <a:latin typeface="Consolas" pitchFamily="34" charset="0"/>
                <a:ea typeface="Consolas" pitchFamily="34" charset="-122"/>
                <a:cs typeface="Consolas" pitchFamily="34" charset="-120"/>
              </a:rPr>
              <a:t>"Summarise this 50-page supplier report in 5 bullet points. Focus on cost drivers relevant to Australian procurement teams."</a:t>
            </a:r>
            <a:endParaRPr lang="en-US" sz="1100" dirty="0"/>
          </a:p>
        </p:txBody>
      </p:sp>
      <p:sp>
        <p:nvSpPr>
          <p:cNvPr id="19" name="Text 13"/>
          <p:cNvSpPr/>
          <p:nvPr/>
        </p:nvSpPr>
        <p:spPr>
          <a:xfrm>
            <a:off x="640080" y="4572000"/>
            <a:ext cx="7863840" cy="320040"/>
          </a:xfrm>
          <a:prstGeom prst="rect">
            <a:avLst/>
          </a:prstGeom>
          <a:noFill/>
          <a:ln/>
        </p:spPr>
        <p:txBody>
          <a:bodyPr wrap="square" lIns="0" tIns="0" rIns="0" bIns="0" rtlCol="0" anchor="ctr"/>
          <a:lstStyle/>
          <a:p>
            <a:pPr algn="ctr" indent="0" marL="0">
              <a:buNone/>
            </a:pPr>
            <a:r>
              <a:rPr lang="en-US" sz="1200" b="1" i="1" dirty="0">
                <a:solidFill>
                  <a:srgbClr val="00C9A7"/>
                </a:solidFill>
                <a:latin typeface="Calibri" pitchFamily="34" charset="0"/>
                <a:ea typeface="Calibri" pitchFamily="34" charset="-122"/>
                <a:cs typeface="Calibri" pitchFamily="34" charset="-120"/>
              </a:rPr>
              <a:t>More context in → Better output out.   Be specific about who, what, how long, and for whom.</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640080" y="320040"/>
            <a:ext cx="7772400" cy="640080"/>
          </a:xfrm>
          <a:prstGeom prst="rect">
            <a:avLst/>
          </a:prstGeom>
          <a:noFill/>
          <a:ln/>
        </p:spPr>
        <p:txBody>
          <a:bodyPr wrap="square" lIns="0" tIns="0" rIns="0" bIns="0" rtlCol="0" anchor="ctr"/>
          <a:lstStyle/>
          <a:p>
            <a:pPr indent="0" marL="0">
              <a:buNone/>
            </a:pPr>
            <a:r>
              <a:rPr lang="en-US" sz="3200" b="1" dirty="0">
                <a:solidFill>
                  <a:srgbClr val="1E293B"/>
                </a:solidFill>
                <a:latin typeface="Georgia" pitchFamily="34" charset="0"/>
                <a:ea typeface="Georgia" pitchFamily="34" charset="-122"/>
                <a:cs typeface="Georgia" pitchFamily="34" charset="-120"/>
              </a:rPr>
              <a:t>Your AI Decision Framework</a:t>
            </a:r>
            <a:endParaRPr lang="en-US" sz="3200" dirty="0"/>
          </a:p>
        </p:txBody>
      </p:sp>
      <p:sp>
        <p:nvSpPr>
          <p:cNvPr id="3" name="Shape 1"/>
          <p:cNvSpPr/>
          <p:nvPr/>
        </p:nvSpPr>
        <p:spPr>
          <a:xfrm>
            <a:off x="640080" y="1051560"/>
            <a:ext cx="2468880" cy="411480"/>
          </a:xfrm>
          <a:prstGeom prst="rect">
            <a:avLst/>
          </a:prstGeom>
          <a:solidFill>
            <a:srgbClr val="10B981"/>
          </a:solidFill>
          <a:ln/>
        </p:spPr>
      </p:sp>
      <p:sp>
        <p:nvSpPr>
          <p:cNvPr id="4" name="Text 2"/>
          <p:cNvSpPr/>
          <p:nvPr/>
        </p:nvSpPr>
        <p:spPr>
          <a:xfrm>
            <a:off x="640080" y="105156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USE IT</a:t>
            </a:r>
            <a:endParaRPr lang="en-US" sz="1400" dirty="0"/>
          </a:p>
        </p:txBody>
      </p:sp>
      <p:sp>
        <p:nvSpPr>
          <p:cNvPr id="5" name="Shape 3"/>
          <p:cNvSpPr/>
          <p:nvPr/>
        </p:nvSpPr>
        <p:spPr>
          <a:xfrm>
            <a:off x="640080" y="1463040"/>
            <a:ext cx="2468880" cy="2880360"/>
          </a:xfrm>
          <a:prstGeom prst="rect">
            <a:avLst/>
          </a:prstGeom>
          <a:solidFill>
            <a:srgbClr val="F0FDF4"/>
          </a:solidFill>
          <a:ln w="6350">
            <a:solidFill>
              <a:srgbClr val="86EFAC"/>
            </a:solidFill>
            <a:prstDash val="solid"/>
          </a:ln>
        </p:spPr>
      </p:sp>
      <p:sp>
        <p:nvSpPr>
          <p:cNvPr id="6" name="Text 4"/>
          <p:cNvSpPr/>
          <p:nvPr/>
        </p:nvSpPr>
        <p:spPr>
          <a:xfrm>
            <a:off x="822960" y="1600200"/>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Drafting emails &amp; proposals</a:t>
            </a:r>
            <a:endParaRPr lang="en-US" sz="1150" dirty="0"/>
          </a:p>
        </p:txBody>
      </p:sp>
      <p:sp>
        <p:nvSpPr>
          <p:cNvPr id="7" name="Text 5"/>
          <p:cNvSpPr/>
          <p:nvPr/>
        </p:nvSpPr>
        <p:spPr>
          <a:xfrm>
            <a:off x="822960" y="2029968"/>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Summarising long documents</a:t>
            </a:r>
            <a:endParaRPr lang="en-US" sz="1150" dirty="0"/>
          </a:p>
        </p:txBody>
      </p:sp>
      <p:sp>
        <p:nvSpPr>
          <p:cNvPr id="8" name="Text 6"/>
          <p:cNvSpPr/>
          <p:nvPr/>
        </p:nvSpPr>
        <p:spPr>
          <a:xfrm>
            <a:off x="822960" y="2459736"/>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Brainstorming ideas</a:t>
            </a:r>
            <a:endParaRPr lang="en-US" sz="1150" dirty="0"/>
          </a:p>
        </p:txBody>
      </p:sp>
      <p:sp>
        <p:nvSpPr>
          <p:cNvPr id="9" name="Text 7"/>
          <p:cNvSpPr/>
          <p:nvPr/>
        </p:nvSpPr>
        <p:spPr>
          <a:xfrm>
            <a:off x="822960" y="2889504"/>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Rewriting for clarity/tone</a:t>
            </a:r>
            <a:endParaRPr lang="en-US" sz="1150" dirty="0"/>
          </a:p>
        </p:txBody>
      </p:sp>
      <p:sp>
        <p:nvSpPr>
          <p:cNvPr id="10" name="Text 8"/>
          <p:cNvSpPr/>
          <p:nvPr/>
        </p:nvSpPr>
        <p:spPr>
          <a:xfrm>
            <a:off x="822960" y="3319272"/>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Explaining unfamiliar concepts</a:t>
            </a:r>
            <a:endParaRPr lang="en-US" sz="1150" dirty="0"/>
          </a:p>
        </p:txBody>
      </p:sp>
      <p:sp>
        <p:nvSpPr>
          <p:cNvPr id="11" name="Text 9"/>
          <p:cNvSpPr/>
          <p:nvPr/>
        </p:nvSpPr>
        <p:spPr>
          <a:xfrm>
            <a:off x="822960" y="3749040"/>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Structuring your thinking</a:t>
            </a:r>
            <a:endParaRPr lang="en-US" sz="1150" dirty="0"/>
          </a:p>
        </p:txBody>
      </p:sp>
      <p:sp>
        <p:nvSpPr>
          <p:cNvPr id="12" name="Shape 10"/>
          <p:cNvSpPr/>
          <p:nvPr/>
        </p:nvSpPr>
        <p:spPr>
          <a:xfrm>
            <a:off x="3337560" y="1051560"/>
            <a:ext cx="2468880" cy="411480"/>
          </a:xfrm>
          <a:prstGeom prst="rect">
            <a:avLst/>
          </a:prstGeom>
          <a:solidFill>
            <a:srgbClr val="FFAA33"/>
          </a:solidFill>
          <a:ln/>
        </p:spPr>
      </p:sp>
      <p:sp>
        <p:nvSpPr>
          <p:cNvPr id="13" name="Text 11"/>
          <p:cNvSpPr/>
          <p:nvPr/>
        </p:nvSpPr>
        <p:spPr>
          <a:xfrm>
            <a:off x="3337560" y="105156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USE WITH CAUTION</a:t>
            </a:r>
            <a:endParaRPr lang="en-US" sz="1400" dirty="0"/>
          </a:p>
        </p:txBody>
      </p:sp>
      <p:sp>
        <p:nvSpPr>
          <p:cNvPr id="14" name="Shape 12"/>
          <p:cNvSpPr/>
          <p:nvPr/>
        </p:nvSpPr>
        <p:spPr>
          <a:xfrm>
            <a:off x="3337560" y="1463040"/>
            <a:ext cx="2468880" cy="2880360"/>
          </a:xfrm>
          <a:prstGeom prst="rect">
            <a:avLst/>
          </a:prstGeom>
          <a:solidFill>
            <a:srgbClr val="FFFBEB"/>
          </a:solidFill>
          <a:ln w="6350">
            <a:solidFill>
              <a:srgbClr val="FDE68A"/>
            </a:solidFill>
            <a:prstDash val="solid"/>
          </a:ln>
        </p:spPr>
      </p:sp>
      <p:sp>
        <p:nvSpPr>
          <p:cNvPr id="15" name="Text 13"/>
          <p:cNvSpPr/>
          <p:nvPr/>
        </p:nvSpPr>
        <p:spPr>
          <a:xfrm>
            <a:off x="3520440" y="1600200"/>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Industry-specific analysis</a:t>
            </a:r>
            <a:endParaRPr lang="en-US" sz="1150" dirty="0"/>
          </a:p>
        </p:txBody>
      </p:sp>
      <p:sp>
        <p:nvSpPr>
          <p:cNvPr id="16" name="Text 14"/>
          <p:cNvSpPr/>
          <p:nvPr/>
        </p:nvSpPr>
        <p:spPr>
          <a:xfrm>
            <a:off x="3520440" y="2029968"/>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Data interpretation</a:t>
            </a:r>
            <a:endParaRPr lang="en-US" sz="1150" dirty="0"/>
          </a:p>
        </p:txBody>
      </p:sp>
      <p:sp>
        <p:nvSpPr>
          <p:cNvPr id="17" name="Text 15"/>
          <p:cNvSpPr/>
          <p:nvPr/>
        </p:nvSpPr>
        <p:spPr>
          <a:xfrm>
            <a:off x="3520440" y="2459736"/>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Technical comparisons</a:t>
            </a:r>
            <a:endParaRPr lang="en-US" sz="1150" dirty="0"/>
          </a:p>
        </p:txBody>
      </p:sp>
      <p:sp>
        <p:nvSpPr>
          <p:cNvPr id="18" name="Text 16"/>
          <p:cNvSpPr/>
          <p:nvPr/>
        </p:nvSpPr>
        <p:spPr>
          <a:xfrm>
            <a:off x="3520440" y="2889504"/>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Customer-facing content</a:t>
            </a:r>
            <a:endParaRPr lang="en-US" sz="1150" dirty="0"/>
          </a:p>
        </p:txBody>
      </p:sp>
      <p:sp>
        <p:nvSpPr>
          <p:cNvPr id="19" name="Text 17"/>
          <p:cNvSpPr/>
          <p:nvPr/>
        </p:nvSpPr>
        <p:spPr>
          <a:xfrm>
            <a:off x="3520440" y="3319272"/>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Anything you'll present</a:t>
            </a:r>
            <a:endParaRPr lang="en-US" sz="1150" dirty="0"/>
          </a:p>
        </p:txBody>
      </p:sp>
      <p:sp>
        <p:nvSpPr>
          <p:cNvPr id="20" name="Text 18"/>
          <p:cNvSpPr/>
          <p:nvPr/>
        </p:nvSpPr>
        <p:spPr>
          <a:xfrm>
            <a:off x="3520440" y="3749040"/>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Content for compliance</a:t>
            </a:r>
            <a:endParaRPr lang="en-US" sz="1150" dirty="0"/>
          </a:p>
        </p:txBody>
      </p:sp>
      <p:sp>
        <p:nvSpPr>
          <p:cNvPr id="21" name="Shape 19"/>
          <p:cNvSpPr/>
          <p:nvPr/>
        </p:nvSpPr>
        <p:spPr>
          <a:xfrm>
            <a:off x="6035040" y="1051560"/>
            <a:ext cx="2468880" cy="411480"/>
          </a:xfrm>
          <a:prstGeom prst="rect">
            <a:avLst/>
          </a:prstGeom>
          <a:solidFill>
            <a:srgbClr val="EF4444"/>
          </a:solidFill>
          <a:ln/>
        </p:spPr>
      </p:sp>
      <p:sp>
        <p:nvSpPr>
          <p:cNvPr id="22" name="Text 20"/>
          <p:cNvSpPr/>
          <p:nvPr/>
        </p:nvSpPr>
        <p:spPr>
          <a:xfrm>
            <a:off x="6035040" y="1051560"/>
            <a:ext cx="246888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DON'T RELY ON IT</a:t>
            </a:r>
            <a:endParaRPr lang="en-US" sz="1400" dirty="0"/>
          </a:p>
        </p:txBody>
      </p:sp>
      <p:sp>
        <p:nvSpPr>
          <p:cNvPr id="23" name="Shape 21"/>
          <p:cNvSpPr/>
          <p:nvPr/>
        </p:nvSpPr>
        <p:spPr>
          <a:xfrm>
            <a:off x="6035040" y="1463040"/>
            <a:ext cx="2468880" cy="2880360"/>
          </a:xfrm>
          <a:prstGeom prst="rect">
            <a:avLst/>
          </a:prstGeom>
          <a:solidFill>
            <a:srgbClr val="FEF2F2"/>
          </a:solidFill>
          <a:ln w="6350">
            <a:solidFill>
              <a:srgbClr val="FECACA"/>
            </a:solidFill>
            <a:prstDash val="solid"/>
          </a:ln>
        </p:spPr>
      </p:sp>
      <p:sp>
        <p:nvSpPr>
          <p:cNvPr id="24" name="Text 22"/>
          <p:cNvSpPr/>
          <p:nvPr/>
        </p:nvSpPr>
        <p:spPr>
          <a:xfrm>
            <a:off x="6217920" y="1600200"/>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Exact technical specs</a:t>
            </a:r>
            <a:endParaRPr lang="en-US" sz="1150" dirty="0"/>
          </a:p>
        </p:txBody>
      </p:sp>
      <p:sp>
        <p:nvSpPr>
          <p:cNvPr id="25" name="Text 23"/>
          <p:cNvSpPr/>
          <p:nvPr/>
        </p:nvSpPr>
        <p:spPr>
          <a:xfrm>
            <a:off x="6217920" y="2029968"/>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Pricing or contract terms</a:t>
            </a:r>
            <a:endParaRPr lang="en-US" sz="1150" dirty="0"/>
          </a:p>
        </p:txBody>
      </p:sp>
      <p:sp>
        <p:nvSpPr>
          <p:cNvPr id="26" name="Text 24"/>
          <p:cNvSpPr/>
          <p:nvPr/>
        </p:nvSpPr>
        <p:spPr>
          <a:xfrm>
            <a:off x="6217920" y="2459736"/>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Safety-critical information</a:t>
            </a:r>
            <a:endParaRPr lang="en-US" sz="1150" dirty="0"/>
          </a:p>
        </p:txBody>
      </p:sp>
      <p:sp>
        <p:nvSpPr>
          <p:cNvPr id="27" name="Text 25"/>
          <p:cNvSpPr/>
          <p:nvPr/>
        </p:nvSpPr>
        <p:spPr>
          <a:xfrm>
            <a:off x="6217920" y="2889504"/>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Legal or regulatory claims</a:t>
            </a:r>
            <a:endParaRPr lang="en-US" sz="1150" dirty="0"/>
          </a:p>
        </p:txBody>
      </p:sp>
      <p:sp>
        <p:nvSpPr>
          <p:cNvPr id="28" name="Text 26"/>
          <p:cNvSpPr/>
          <p:nvPr/>
        </p:nvSpPr>
        <p:spPr>
          <a:xfrm>
            <a:off x="6217920" y="3319272"/>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Anything you can't verify</a:t>
            </a:r>
            <a:endParaRPr lang="en-US" sz="1150" dirty="0"/>
          </a:p>
        </p:txBody>
      </p:sp>
      <p:sp>
        <p:nvSpPr>
          <p:cNvPr id="29" name="Text 27"/>
          <p:cNvSpPr/>
          <p:nvPr/>
        </p:nvSpPr>
        <p:spPr>
          <a:xfrm>
            <a:off x="6217920" y="3749040"/>
            <a:ext cx="2103120" cy="365760"/>
          </a:xfrm>
          <a:prstGeom prst="rect">
            <a:avLst/>
          </a:prstGeom>
          <a:noFill/>
          <a:ln/>
        </p:spPr>
        <p:txBody>
          <a:bodyPr wrap="square" lIns="0" tIns="0" rIns="0" bIns="0" rtlCol="0" anchor="ctr"/>
          <a:lstStyle/>
          <a:p>
            <a:pPr marL="342900" indent="-342900">
              <a:buSzPct val="100000"/>
              <a:buChar char="•"/>
            </a:pPr>
            <a:r>
              <a:rPr lang="en-US" sz="1150" dirty="0">
                <a:solidFill>
                  <a:srgbClr val="1E293B"/>
                </a:solidFill>
                <a:latin typeface="Calibri" pitchFamily="34" charset="0"/>
                <a:ea typeface="Calibri" pitchFamily="34" charset="-122"/>
                <a:cs typeface="Calibri" pitchFamily="34" charset="-120"/>
              </a:rPr>
              <a:t>Confidential data input</a:t>
            </a:r>
            <a:endParaRPr lang="en-US" sz="1150" dirty="0"/>
          </a:p>
        </p:txBody>
      </p:sp>
      <p:sp>
        <p:nvSpPr>
          <p:cNvPr id="30" name="Shape 28"/>
          <p:cNvSpPr/>
          <p:nvPr/>
        </p:nvSpPr>
        <p:spPr>
          <a:xfrm>
            <a:off x="640080" y="4526280"/>
            <a:ext cx="7863840" cy="457200"/>
          </a:xfrm>
          <a:prstGeom prst="rect">
            <a:avLst/>
          </a:prstGeom>
          <a:solidFill>
            <a:srgbClr val="0B1120"/>
          </a:solidFill>
          <a:ln/>
        </p:spPr>
      </p:sp>
      <p:sp>
        <p:nvSpPr>
          <p:cNvPr id="31" name="Text 29"/>
          <p:cNvSpPr/>
          <p:nvPr/>
        </p:nvSpPr>
        <p:spPr>
          <a:xfrm>
            <a:off x="822960" y="4526280"/>
            <a:ext cx="7498080" cy="457200"/>
          </a:xfrm>
          <a:prstGeom prst="rect">
            <a:avLst/>
          </a:prstGeom>
          <a:noFill/>
          <a:ln/>
        </p:spPr>
        <p:txBody>
          <a:bodyPr wrap="square" lIns="0" tIns="0" rIns="0" bIns="0" rtlCol="0" anchor="ctr"/>
          <a:lstStyle/>
          <a:p>
            <a:pPr algn="ctr" indent="0" marL="0">
              <a:buNone/>
            </a:pPr>
            <a:r>
              <a:rPr lang="en-US" sz="1300" b="1" dirty="0">
                <a:solidFill>
                  <a:srgbClr val="00C9A7"/>
                </a:solidFill>
                <a:latin typeface="Calibri" pitchFamily="34" charset="0"/>
                <a:ea typeface="Calibri" pitchFamily="34" charset="-122"/>
                <a:cs typeface="Calibri" pitchFamily="34" charset="-120"/>
              </a:rPr>
              <a:t>Golden Rule:  Would you send a new hire's first draft without reviewing it?  Apply the same standard to AI.</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120"/>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C9A7"/>
          </a:solidFill>
          <a:ln/>
        </p:spPr>
      </p:sp>
      <p:pic>
        <p:nvPicPr>
          <p:cNvPr id="3" name="Image 0" descr="preencoded.png">    </p:cNvPr>
          <p:cNvPicPr>
            <a:picLocks noChangeAspect="1"/>
          </p:cNvPicPr>
          <p:nvPr/>
        </p:nvPicPr>
        <p:blipFill>
          <a:blip r:embed="rId1"/>
          <a:stretch>
            <a:fillRect/>
          </a:stretch>
        </p:blipFill>
        <p:spPr>
          <a:xfrm>
            <a:off x="4160520" y="914400"/>
            <a:ext cx="822960" cy="822960"/>
          </a:xfrm>
          <a:prstGeom prst="rect">
            <a:avLst/>
          </a:prstGeom>
        </p:spPr>
      </p:pic>
      <p:sp>
        <p:nvSpPr>
          <p:cNvPr id="4" name="Text 1"/>
          <p:cNvSpPr/>
          <p:nvPr/>
        </p:nvSpPr>
        <p:spPr>
          <a:xfrm>
            <a:off x="457200" y="1920240"/>
            <a:ext cx="8229600" cy="640080"/>
          </a:xfrm>
          <a:prstGeom prst="rect">
            <a:avLst/>
          </a:prstGeom>
          <a:noFill/>
          <a:ln/>
        </p:spPr>
        <p:txBody>
          <a:bodyPr wrap="square" lIns="0" tIns="0" rIns="0" bIns="0"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AI is a power tool.</a:t>
            </a:r>
            <a:endParaRPr lang="en-US" sz="3600" dirty="0"/>
          </a:p>
        </p:txBody>
      </p:sp>
      <p:sp>
        <p:nvSpPr>
          <p:cNvPr id="5" name="Text 2"/>
          <p:cNvSpPr/>
          <p:nvPr/>
        </p:nvSpPr>
        <p:spPr>
          <a:xfrm>
            <a:off x="457200" y="2560320"/>
            <a:ext cx="8229600" cy="822960"/>
          </a:xfrm>
          <a:prstGeom prst="rect">
            <a:avLst/>
          </a:prstGeom>
          <a:noFill/>
          <a:ln/>
        </p:spPr>
        <p:txBody>
          <a:bodyPr wrap="square" lIns="0" tIns="0" rIns="0" bIns="0" rtlCol="0" anchor="ctr"/>
          <a:lstStyle/>
          <a:p>
            <a:pPr algn="ctr" indent="0" marL="0">
              <a:buNone/>
            </a:pPr>
            <a:r>
              <a:rPr lang="en-US" sz="2000" dirty="0">
                <a:solidFill>
                  <a:srgbClr val="94A3B8"/>
                </a:solidFill>
                <a:latin typeface="Calibri" pitchFamily="34" charset="0"/>
                <a:ea typeface="Calibri" pitchFamily="34" charset="-122"/>
                <a:cs typeface="Calibri" pitchFamily="34" charset="-120"/>
              </a:rPr>
              <a:t>Powerful in skilled hands.</a:t>
            </a:r>
            <a:endParaRPr lang="en-US" sz="2000" dirty="0"/>
          </a:p>
          <a:p>
            <a:pPr algn="ctr" indent="0" marL="0">
              <a:buNone/>
            </a:pPr>
            <a:r>
              <a:rPr lang="en-US" sz="2000" dirty="0">
                <a:solidFill>
                  <a:srgbClr val="94A3B8"/>
                </a:solidFill>
                <a:latin typeface="Calibri" pitchFamily="34" charset="0"/>
                <a:ea typeface="Calibri" pitchFamily="34" charset="-122"/>
                <a:cs typeface="Calibri" pitchFamily="34" charset="-120"/>
              </a:rPr>
              <a:t>Dangerous if you don't check the output.</a:t>
            </a:r>
            <a:endParaRPr lang="en-US" sz="2000" dirty="0"/>
          </a:p>
        </p:txBody>
      </p:sp>
      <p:sp>
        <p:nvSpPr>
          <p:cNvPr id="6" name="Shape 3"/>
          <p:cNvSpPr/>
          <p:nvPr/>
        </p:nvSpPr>
        <p:spPr>
          <a:xfrm>
            <a:off x="3200400" y="3657600"/>
            <a:ext cx="2743200" cy="0"/>
          </a:xfrm>
          <a:prstGeom prst="line">
            <a:avLst/>
          </a:prstGeom>
          <a:noFill/>
          <a:ln w="6350">
            <a:solidFill>
              <a:srgbClr val="94A3B8"/>
            </a:solidFill>
            <a:prstDash val="solid"/>
          </a:ln>
        </p:spPr>
      </p:sp>
      <p:pic>
        <p:nvPicPr>
          <p:cNvPr id="7" name="Image 1" descr="preencoded.png">    </p:cNvPr>
          <p:cNvPicPr>
            <a:picLocks noChangeAspect="1"/>
          </p:cNvPicPr>
          <p:nvPr/>
        </p:nvPicPr>
        <p:blipFill>
          <a:blip r:embed="rId2"/>
          <a:stretch>
            <a:fillRect/>
          </a:stretch>
        </p:blipFill>
        <p:spPr>
          <a:xfrm>
            <a:off x="1417320" y="3886200"/>
            <a:ext cx="320040" cy="320040"/>
          </a:xfrm>
          <a:prstGeom prst="rect">
            <a:avLst/>
          </a:prstGeom>
        </p:spPr>
      </p:pic>
      <p:sp>
        <p:nvSpPr>
          <p:cNvPr id="8" name="Text 4"/>
          <p:cNvSpPr/>
          <p:nvPr/>
        </p:nvSpPr>
        <p:spPr>
          <a:xfrm>
            <a:off x="914400" y="4251960"/>
            <a:ext cx="2286000" cy="457200"/>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It reasons — it doesn't search</a:t>
            </a:r>
            <a:endParaRPr lang="en-US" sz="1200" dirty="0"/>
          </a:p>
        </p:txBody>
      </p:sp>
      <p:pic>
        <p:nvPicPr>
          <p:cNvPr id="9" name="Image 2" descr="preencoded.png">    </p:cNvPr>
          <p:cNvPicPr>
            <a:picLocks noChangeAspect="1"/>
          </p:cNvPicPr>
          <p:nvPr/>
        </p:nvPicPr>
        <p:blipFill>
          <a:blip r:embed="rId3"/>
          <a:stretch>
            <a:fillRect/>
          </a:stretch>
        </p:blipFill>
        <p:spPr>
          <a:xfrm>
            <a:off x="4069080" y="3886200"/>
            <a:ext cx="320040" cy="320040"/>
          </a:xfrm>
          <a:prstGeom prst="rect">
            <a:avLst/>
          </a:prstGeom>
        </p:spPr>
      </p:pic>
      <p:sp>
        <p:nvSpPr>
          <p:cNvPr id="10" name="Text 5"/>
          <p:cNvSpPr/>
          <p:nvPr/>
        </p:nvSpPr>
        <p:spPr>
          <a:xfrm>
            <a:off x="3566160" y="4251960"/>
            <a:ext cx="2286000" cy="457200"/>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Better prompts = better output</a:t>
            </a:r>
            <a:endParaRPr lang="en-US" sz="1200" dirty="0"/>
          </a:p>
        </p:txBody>
      </p:sp>
      <p:pic>
        <p:nvPicPr>
          <p:cNvPr id="11" name="Image 3" descr="preencoded.png">    </p:cNvPr>
          <p:cNvPicPr>
            <a:picLocks noChangeAspect="1"/>
          </p:cNvPicPr>
          <p:nvPr/>
        </p:nvPicPr>
        <p:blipFill>
          <a:blip r:embed="rId4"/>
          <a:stretch>
            <a:fillRect/>
          </a:stretch>
        </p:blipFill>
        <p:spPr>
          <a:xfrm>
            <a:off x="6720840" y="3886200"/>
            <a:ext cx="320040" cy="320040"/>
          </a:xfrm>
          <a:prstGeom prst="rect">
            <a:avLst/>
          </a:prstGeom>
        </p:spPr>
      </p:pic>
      <p:sp>
        <p:nvSpPr>
          <p:cNvPr id="12" name="Text 6"/>
          <p:cNvSpPr/>
          <p:nvPr/>
        </p:nvSpPr>
        <p:spPr>
          <a:xfrm>
            <a:off x="6217920" y="4251960"/>
            <a:ext cx="2286000" cy="457200"/>
          </a:xfrm>
          <a:prstGeom prst="rect">
            <a:avLst/>
          </a:prstGeom>
          <a:noFill/>
          <a:ln/>
        </p:spPr>
        <p:txBody>
          <a:bodyPr wrap="square" lIns="0" tIns="0" rIns="0" bIns="0" rtlCol="0" anchor="ctr"/>
          <a:lstStyle/>
          <a:p>
            <a:pPr algn="ctr" indent="0" marL="0">
              <a:buNone/>
            </a:pPr>
            <a:r>
              <a:rPr lang="en-US" sz="1200" dirty="0">
                <a:solidFill>
                  <a:srgbClr val="E2E8F0"/>
                </a:solidFill>
                <a:latin typeface="Calibri" pitchFamily="34" charset="0"/>
                <a:ea typeface="Calibri" pitchFamily="34" charset="-122"/>
                <a:cs typeface="Calibri" pitchFamily="34" charset="-120"/>
              </a:rPr>
              <a:t>Always verify before you send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Fluency — Building Your AI Intuition</dc:title>
  <dc:subject>PptxGenJS Presentation</dc:subject>
  <dc:creator>Rahul</dc:creator>
  <cp:lastModifiedBy>Rahul</cp:lastModifiedBy>
  <cp:revision>1</cp:revision>
  <dcterms:created xsi:type="dcterms:W3CDTF">2026-03-26T03:37:29Z</dcterms:created>
  <dcterms:modified xsi:type="dcterms:W3CDTF">2026-03-26T03:37:29Z</dcterms:modified>
</cp:coreProperties>
</file>